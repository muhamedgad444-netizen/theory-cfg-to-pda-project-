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7" r:id="rId4"/>
    <p:sldId id="268" r:id="rId5"/>
    <p:sldId id="259" r:id="rId6"/>
    <p:sldId id="260" r:id="rId7"/>
    <p:sldId id="261" r:id="rId8"/>
    <p:sldId id="262" r:id="rId9"/>
    <p:sldId id="264" r:id="rId10"/>
    <p:sldId id="269" r:id="rId11"/>
    <p:sldId id="270" r:id="rId12"/>
    <p:sldId id="271" r:id="rId13"/>
    <p:sldId id="272" r:id="rId14"/>
    <p:sldId id="265" r:id="rId15"/>
    <p:sldId id="263" r:id="rId16"/>
    <p:sldId id="266" r:id="rId17"/>
  </p:sldIdLst>
  <p:sldSz cx="18288000" cy="10287000"/>
  <p:notesSz cx="6858000" cy="9144000"/>
  <p:embeddedFontLst>
    <p:embeddedFont>
      <p:font typeface="Cooper BT Light" panose="020B0604020202020204" charset="0"/>
      <p:regular r:id="rId18"/>
    </p:embeddedFont>
    <p:embeddedFont>
      <p:font typeface="Rosario" panose="020B0604020202020204" charset="0"/>
      <p:regular r:id="rId19"/>
    </p:embeddedFont>
    <p:embeddedFont>
      <p:font typeface="Rosario Bold" panose="020B0604020202020204" charset="0"/>
      <p:regular r:id="rId20"/>
    </p:embeddedFont>
    <p:embeddedFont>
      <p:font typeface="Rosario Italic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F827C4-32E8-4235-9622-1680B0D1A9B7}" v="4" dt="2025-12-09T14:16:21.8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4622" autoAdjust="0"/>
  </p:normalViewPr>
  <p:slideViewPr>
    <p:cSldViewPr>
      <p:cViewPr varScale="1">
        <p:scale>
          <a:sx n="54" d="100"/>
          <a:sy n="54" d="100"/>
        </p:scale>
        <p:origin x="691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4.sv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50413" y="-2743662"/>
            <a:ext cx="7298595" cy="729859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342613" y="5961860"/>
            <a:ext cx="7298595" cy="729859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586675" y="9096618"/>
            <a:ext cx="2353208" cy="235320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959727" y="3595206"/>
            <a:ext cx="1919454" cy="191945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8905443"/>
            <a:ext cx="3920639" cy="705715"/>
          </a:xfrm>
          <a:custGeom>
            <a:avLst/>
            <a:gdLst/>
            <a:ahLst/>
            <a:cxnLst/>
            <a:rect l="l" t="t" r="r" b="b"/>
            <a:pathLst>
              <a:path w="3920639" h="705715">
                <a:moveTo>
                  <a:pt x="0" y="0"/>
                </a:moveTo>
                <a:lnTo>
                  <a:pt x="3920639" y="0"/>
                </a:lnTo>
                <a:lnTo>
                  <a:pt x="3920639" y="705714"/>
                </a:lnTo>
                <a:lnTo>
                  <a:pt x="0" y="705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Freeform 15"/>
          <p:cNvSpPr/>
          <p:nvPr/>
        </p:nvSpPr>
        <p:spPr>
          <a:xfrm>
            <a:off x="-1591032" y="-89250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6" name="Freeform 16"/>
          <p:cNvSpPr/>
          <p:nvPr/>
        </p:nvSpPr>
        <p:spPr>
          <a:xfrm rot="-10800000">
            <a:off x="16153568" y="2389297"/>
            <a:ext cx="1665995" cy="1665995"/>
          </a:xfrm>
          <a:custGeom>
            <a:avLst/>
            <a:gdLst/>
            <a:ahLst/>
            <a:cxnLst/>
            <a:rect l="l" t="t" r="r" b="b"/>
            <a:pathLst>
              <a:path w="1665995" h="1665995">
                <a:moveTo>
                  <a:pt x="0" y="0"/>
                </a:moveTo>
                <a:lnTo>
                  <a:pt x="1665996" y="0"/>
                </a:lnTo>
                <a:lnTo>
                  <a:pt x="1665996" y="1665995"/>
                </a:lnTo>
                <a:lnTo>
                  <a:pt x="0" y="1665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7" name="Freeform 17"/>
          <p:cNvSpPr/>
          <p:nvPr/>
        </p:nvSpPr>
        <p:spPr>
          <a:xfrm>
            <a:off x="15546747" y="782726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/>
          <p:cNvSpPr/>
          <p:nvPr/>
        </p:nvSpPr>
        <p:spPr>
          <a:xfrm>
            <a:off x="16326504" y="5985148"/>
            <a:ext cx="1320124" cy="1320124"/>
          </a:xfrm>
          <a:custGeom>
            <a:avLst/>
            <a:gdLst/>
            <a:ahLst/>
            <a:cxnLst/>
            <a:rect l="l" t="t" r="r" b="b"/>
            <a:pathLst>
              <a:path w="1320124" h="1320124">
                <a:moveTo>
                  <a:pt x="0" y="0"/>
                </a:moveTo>
                <a:lnTo>
                  <a:pt x="1320124" y="0"/>
                </a:lnTo>
                <a:lnTo>
                  <a:pt x="1320124" y="1320124"/>
                </a:lnTo>
                <a:lnTo>
                  <a:pt x="0" y="1320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Freeform 19"/>
          <p:cNvSpPr/>
          <p:nvPr/>
        </p:nvSpPr>
        <p:spPr>
          <a:xfrm>
            <a:off x="3105014" y="-1844324"/>
            <a:ext cx="3688648" cy="3688648"/>
          </a:xfrm>
          <a:custGeom>
            <a:avLst/>
            <a:gdLst/>
            <a:ahLst/>
            <a:cxnLst/>
            <a:rect l="l" t="t" r="r" b="b"/>
            <a:pathLst>
              <a:path w="3688648" h="3688648">
                <a:moveTo>
                  <a:pt x="0" y="0"/>
                </a:moveTo>
                <a:lnTo>
                  <a:pt x="3688649" y="0"/>
                </a:lnTo>
                <a:lnTo>
                  <a:pt x="3688649" y="3688648"/>
                </a:lnTo>
                <a:lnTo>
                  <a:pt x="0" y="36886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0" name="Freeform 20"/>
          <p:cNvSpPr/>
          <p:nvPr/>
        </p:nvSpPr>
        <p:spPr>
          <a:xfrm rot="-10800000" flipH="1">
            <a:off x="16153568" y="606788"/>
            <a:ext cx="1665995" cy="1665995"/>
          </a:xfrm>
          <a:custGeom>
            <a:avLst/>
            <a:gdLst/>
            <a:ahLst/>
            <a:cxnLst/>
            <a:rect l="l" t="t" r="r" b="b"/>
            <a:pathLst>
              <a:path w="1665995" h="1665995">
                <a:moveTo>
                  <a:pt x="1665996" y="0"/>
                </a:moveTo>
                <a:lnTo>
                  <a:pt x="0" y="0"/>
                </a:lnTo>
                <a:lnTo>
                  <a:pt x="0" y="1665995"/>
                </a:lnTo>
                <a:lnTo>
                  <a:pt x="1665996" y="1665995"/>
                </a:lnTo>
                <a:lnTo>
                  <a:pt x="166599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1" name="Freeform 21"/>
          <p:cNvSpPr/>
          <p:nvPr/>
        </p:nvSpPr>
        <p:spPr>
          <a:xfrm>
            <a:off x="1028700" y="905635"/>
            <a:ext cx="3261942" cy="3261942"/>
          </a:xfrm>
          <a:custGeom>
            <a:avLst/>
            <a:gdLst/>
            <a:ahLst/>
            <a:cxnLst/>
            <a:rect l="l" t="t" r="r" b="b"/>
            <a:pathLst>
              <a:path w="3261942" h="3261942">
                <a:moveTo>
                  <a:pt x="0" y="0"/>
                </a:moveTo>
                <a:lnTo>
                  <a:pt x="3261942" y="0"/>
                </a:lnTo>
                <a:lnTo>
                  <a:pt x="3261942" y="3261942"/>
                </a:lnTo>
                <a:lnTo>
                  <a:pt x="0" y="32619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2" name="TextBox 22"/>
          <p:cNvSpPr txBox="1"/>
          <p:nvPr/>
        </p:nvSpPr>
        <p:spPr>
          <a:xfrm>
            <a:off x="641373" y="3645166"/>
            <a:ext cx="17178190" cy="1781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459"/>
              </a:lnSpc>
            </a:pPr>
            <a:r>
              <a:rPr lang="en-US" sz="9600" dirty="0">
                <a:solidFill>
                  <a:srgbClr val="462054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Push Down Automata (PDA)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088262" y="5443432"/>
            <a:ext cx="8111475" cy="820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dirty="0">
                <a:solidFill>
                  <a:srgbClr val="462054"/>
                </a:solidFill>
                <a:latin typeface="Rosario"/>
                <a:ea typeface="Rosario"/>
                <a:cs typeface="Rosario"/>
                <a:sym typeface="Rosario"/>
              </a:rPr>
              <a:t>Tutorial 08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-95250" y="9711882"/>
            <a:ext cx="679366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i="1">
                <a:solidFill>
                  <a:srgbClr val="462054"/>
                </a:solidFill>
                <a:latin typeface="Rosario Italics"/>
                <a:ea typeface="Rosario Italics"/>
                <a:cs typeface="Rosario Italics"/>
                <a:sym typeface="Rosario Italics"/>
              </a:rPr>
              <a:t>CSCI419 - Theory of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45470" y="-2376191"/>
            <a:ext cx="5272633" cy="527263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914620" y="7117545"/>
            <a:ext cx="5704840" cy="57048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323752" y="9567782"/>
            <a:ext cx="1839350" cy="183935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51846" y="2203119"/>
            <a:ext cx="1386647" cy="138664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Freeform 15"/>
          <p:cNvSpPr/>
          <p:nvPr/>
        </p:nvSpPr>
        <p:spPr>
          <a:xfrm>
            <a:off x="-1107912" y="-1038882"/>
            <a:ext cx="2972604" cy="2972604"/>
          </a:xfrm>
          <a:custGeom>
            <a:avLst/>
            <a:gdLst/>
            <a:ahLst/>
            <a:cxnLst/>
            <a:rect l="l" t="t" r="r" b="b"/>
            <a:pathLst>
              <a:path w="2972604" h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6" name="Freeform 16"/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7" name="Freeform 17"/>
          <p:cNvSpPr/>
          <p:nvPr/>
        </p:nvSpPr>
        <p:spPr>
          <a:xfrm>
            <a:off x="16637449" y="8575609"/>
            <a:ext cx="3216273" cy="3216273"/>
          </a:xfrm>
          <a:custGeom>
            <a:avLst/>
            <a:gdLst/>
            <a:ahLst/>
            <a:cxnLst/>
            <a:rect l="l" t="t" r="r" b="b"/>
            <a:pathLst>
              <a:path w="3216273" h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/>
          <p:cNvSpPr/>
          <p:nvPr/>
        </p:nvSpPr>
        <p:spPr>
          <a:xfrm>
            <a:off x="16986566" y="7117545"/>
            <a:ext cx="1031856" cy="1031856"/>
          </a:xfrm>
          <a:custGeom>
            <a:avLst/>
            <a:gdLst/>
            <a:ahLst/>
            <a:cxnLst/>
            <a:rect l="l" t="t" r="r" b="b"/>
            <a:pathLst>
              <a:path w="1031856" h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Freeform 19"/>
          <p:cNvSpPr/>
          <p:nvPr/>
        </p:nvSpPr>
        <p:spPr>
          <a:xfrm>
            <a:off x="2284594" y="-1726493"/>
            <a:ext cx="2664744" cy="2664744"/>
          </a:xfrm>
          <a:custGeom>
            <a:avLst/>
            <a:gdLst/>
            <a:ahLst/>
            <a:cxnLst/>
            <a:rect l="l" t="t" r="r" b="b"/>
            <a:pathLst>
              <a:path w="2664744" h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0" name="Freeform 20"/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1" name="TextBox 21"/>
          <p:cNvSpPr txBox="1"/>
          <p:nvPr/>
        </p:nvSpPr>
        <p:spPr>
          <a:xfrm>
            <a:off x="4931568" y="2650666"/>
            <a:ext cx="8424863" cy="1387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47"/>
              </a:lnSpc>
            </a:pPr>
            <a:r>
              <a:rPr lang="en-US" sz="8462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What is it?!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84594" y="4864157"/>
            <a:ext cx="4154381" cy="1278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3104" lvl="1" algn="ctr">
              <a:lnSpc>
                <a:spcPts val="5227"/>
              </a:lnSpc>
            </a:pPr>
            <a:r>
              <a:rPr lang="en-US" sz="3734" dirty="0">
                <a:solidFill>
                  <a:srgbClr val="5E376D"/>
                </a:solidFill>
                <a:latin typeface="Rosario"/>
                <a:ea typeface="Rosario"/>
                <a:cs typeface="Rosario"/>
                <a:sym typeface="Rosario"/>
              </a:rPr>
              <a:t>Recognizes non-regular languages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66809" y="4864157"/>
            <a:ext cx="4154381" cy="611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3104" lvl="1" algn="ctr">
              <a:lnSpc>
                <a:spcPts val="5227"/>
              </a:lnSpc>
            </a:pPr>
            <a:r>
              <a:rPr lang="en-US" sz="3734" dirty="0">
                <a:solidFill>
                  <a:srgbClr val="5E376D"/>
                </a:solidFill>
                <a:latin typeface="Rosario"/>
                <a:ea typeface="Rosario"/>
                <a:cs typeface="Rosario"/>
                <a:sym typeface="Rosario"/>
              </a:rPr>
              <a:t>Like NFA + Stack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49025" y="4864157"/>
            <a:ext cx="4154381" cy="1278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3104" lvl="1" algn="ctr">
              <a:lnSpc>
                <a:spcPts val="5227"/>
              </a:lnSpc>
            </a:pPr>
            <a:r>
              <a:rPr lang="en-US" sz="3734" dirty="0">
                <a:solidFill>
                  <a:srgbClr val="5E376D"/>
                </a:solidFill>
                <a:latin typeface="Rosario"/>
                <a:ea typeface="Rosario"/>
                <a:cs typeface="Rosario"/>
                <a:sym typeface="Rosario"/>
              </a:rPr>
              <a:t>Last-In-First-Out (LIFO)</a:t>
            </a:r>
          </a:p>
        </p:txBody>
      </p:sp>
      <p:sp>
        <p:nvSpPr>
          <p:cNvPr id="25" name="Freeform 25"/>
          <p:cNvSpPr/>
          <p:nvPr/>
        </p:nvSpPr>
        <p:spPr>
          <a:xfrm>
            <a:off x="677958" y="136301"/>
            <a:ext cx="2608154" cy="2608154"/>
          </a:xfrm>
          <a:custGeom>
            <a:avLst/>
            <a:gdLst/>
            <a:ahLst/>
            <a:cxnLst/>
            <a:rect l="l" t="t" r="r" b="b"/>
            <a:pathLst>
              <a:path w="2608154" h="2608154">
                <a:moveTo>
                  <a:pt x="0" y="0"/>
                </a:moveTo>
                <a:lnTo>
                  <a:pt x="2608154" y="0"/>
                </a:lnTo>
                <a:lnTo>
                  <a:pt x="2608154" y="2608154"/>
                </a:lnTo>
                <a:lnTo>
                  <a:pt x="0" y="26081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45470" y="-2376191"/>
            <a:ext cx="5272633" cy="527263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914620" y="7117545"/>
            <a:ext cx="5704840" cy="57048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323752" y="9567782"/>
            <a:ext cx="1839350" cy="183935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51846" y="2203119"/>
            <a:ext cx="1386647" cy="138664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Freeform 15"/>
          <p:cNvSpPr/>
          <p:nvPr/>
        </p:nvSpPr>
        <p:spPr>
          <a:xfrm>
            <a:off x="-1107912" y="-1038882"/>
            <a:ext cx="2972604" cy="2972604"/>
          </a:xfrm>
          <a:custGeom>
            <a:avLst/>
            <a:gdLst/>
            <a:ahLst/>
            <a:cxnLst/>
            <a:rect l="l" t="t" r="r" b="b"/>
            <a:pathLst>
              <a:path w="2972604" h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6" name="Freeform 16"/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7" name="Freeform 17"/>
          <p:cNvSpPr/>
          <p:nvPr/>
        </p:nvSpPr>
        <p:spPr>
          <a:xfrm>
            <a:off x="16637449" y="8575609"/>
            <a:ext cx="3216273" cy="3216273"/>
          </a:xfrm>
          <a:custGeom>
            <a:avLst/>
            <a:gdLst/>
            <a:ahLst/>
            <a:cxnLst/>
            <a:rect l="l" t="t" r="r" b="b"/>
            <a:pathLst>
              <a:path w="3216273" h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/>
          <p:cNvSpPr/>
          <p:nvPr/>
        </p:nvSpPr>
        <p:spPr>
          <a:xfrm>
            <a:off x="16986566" y="7117545"/>
            <a:ext cx="1031856" cy="1031856"/>
          </a:xfrm>
          <a:custGeom>
            <a:avLst/>
            <a:gdLst/>
            <a:ahLst/>
            <a:cxnLst/>
            <a:rect l="l" t="t" r="r" b="b"/>
            <a:pathLst>
              <a:path w="1031856" h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Freeform 19"/>
          <p:cNvSpPr/>
          <p:nvPr/>
        </p:nvSpPr>
        <p:spPr>
          <a:xfrm>
            <a:off x="2284594" y="-1726493"/>
            <a:ext cx="2664744" cy="2664744"/>
          </a:xfrm>
          <a:custGeom>
            <a:avLst/>
            <a:gdLst/>
            <a:ahLst/>
            <a:cxnLst/>
            <a:rect l="l" t="t" r="r" b="b"/>
            <a:pathLst>
              <a:path w="2664744" h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0" name="Freeform 20"/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1" name="TextBox 21"/>
          <p:cNvSpPr txBox="1"/>
          <p:nvPr/>
        </p:nvSpPr>
        <p:spPr>
          <a:xfrm>
            <a:off x="2064606" y="2238292"/>
            <a:ext cx="14098496" cy="13874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47"/>
              </a:lnSpc>
            </a:pPr>
            <a:r>
              <a:rPr lang="en-US" sz="8462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How to describe a PDA?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09193" y="9267834"/>
            <a:ext cx="7640212" cy="741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47"/>
              </a:lnSpc>
            </a:pPr>
            <a:r>
              <a:rPr lang="en-US" sz="4534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Formal Description (6 – tuple)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16966" y="5276531"/>
            <a:ext cx="1162646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en-US" sz="5400" dirty="0">
                <a:solidFill>
                  <a:srgbClr val="5E376D"/>
                </a:solidFill>
                <a:latin typeface="Rosario"/>
                <a:ea typeface="Rosario"/>
                <a:cs typeface="Rosario"/>
                <a:sym typeface="Rosario"/>
              </a:rPr>
              <a:t>(Q, ∑, t, ẟ, q, F)</a:t>
            </a:r>
          </a:p>
        </p:txBody>
      </p:sp>
      <p:sp>
        <p:nvSpPr>
          <p:cNvPr id="24" name="Freeform 24"/>
          <p:cNvSpPr/>
          <p:nvPr/>
        </p:nvSpPr>
        <p:spPr>
          <a:xfrm>
            <a:off x="677958" y="136301"/>
            <a:ext cx="2608154" cy="2608154"/>
          </a:xfrm>
          <a:custGeom>
            <a:avLst/>
            <a:gdLst/>
            <a:ahLst/>
            <a:cxnLst/>
            <a:rect l="l" t="t" r="r" b="b"/>
            <a:pathLst>
              <a:path w="2608154" h="2608154">
                <a:moveTo>
                  <a:pt x="0" y="0"/>
                </a:moveTo>
                <a:lnTo>
                  <a:pt x="2608154" y="0"/>
                </a:lnTo>
                <a:lnTo>
                  <a:pt x="2608154" y="2608154"/>
                </a:lnTo>
                <a:lnTo>
                  <a:pt x="0" y="26081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A93830B-7344-04B5-63CB-17B8783013C6}"/>
              </a:ext>
            </a:extLst>
          </p:cNvPr>
          <p:cNvCxnSpPr>
            <a:cxnSpLocks/>
          </p:cNvCxnSpPr>
          <p:nvPr/>
        </p:nvCxnSpPr>
        <p:spPr>
          <a:xfrm flipH="1">
            <a:off x="6395385" y="5898278"/>
            <a:ext cx="1236113" cy="13848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0DE9CD1-F8F4-7BE3-FB3F-94EEA1F58507}"/>
              </a:ext>
            </a:extLst>
          </p:cNvPr>
          <p:cNvSpPr txBox="1"/>
          <p:nvPr/>
        </p:nvSpPr>
        <p:spPr>
          <a:xfrm>
            <a:off x="5334000" y="7034254"/>
            <a:ext cx="1148415" cy="701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r>
              <a:rPr lang="en-GB" sz="3200" b="0" dirty="0"/>
              <a:t>States</a:t>
            </a:r>
            <a:endParaRPr lang="en-AE" sz="3200" b="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A2010AA-1C1B-2F0B-4CA0-C68A554B0469}"/>
              </a:ext>
            </a:extLst>
          </p:cNvPr>
          <p:cNvCxnSpPr>
            <a:cxnSpLocks/>
          </p:cNvCxnSpPr>
          <p:nvPr/>
        </p:nvCxnSpPr>
        <p:spPr>
          <a:xfrm flipH="1">
            <a:off x="8077200" y="6115621"/>
            <a:ext cx="349082" cy="10090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E670C3C-246F-EB3E-C96F-6B186478AD53}"/>
              </a:ext>
            </a:extLst>
          </p:cNvPr>
          <p:cNvSpPr txBox="1"/>
          <p:nvPr/>
        </p:nvSpPr>
        <p:spPr>
          <a:xfrm>
            <a:off x="7277199" y="7067267"/>
            <a:ext cx="1771133" cy="701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r>
              <a:rPr lang="en-GB" sz="3200" b="0" dirty="0"/>
              <a:t>Alphabets</a:t>
            </a:r>
            <a:endParaRPr lang="en-AE" sz="3200" b="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4F885C1-488E-B716-68B0-1E9430364D2B}"/>
              </a:ext>
            </a:extLst>
          </p:cNvPr>
          <p:cNvCxnSpPr>
            <a:cxnSpLocks/>
          </p:cNvCxnSpPr>
          <p:nvPr/>
        </p:nvCxnSpPr>
        <p:spPr>
          <a:xfrm>
            <a:off x="9915369" y="5898278"/>
            <a:ext cx="888627" cy="11552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0B54E7E-5956-2F0E-34D3-ECAC99E55F70}"/>
              </a:ext>
            </a:extLst>
          </p:cNvPr>
          <p:cNvSpPr txBox="1"/>
          <p:nvPr/>
        </p:nvSpPr>
        <p:spPr>
          <a:xfrm>
            <a:off x="10355524" y="6996084"/>
            <a:ext cx="2732343" cy="701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r>
              <a:rPr lang="en-GB" sz="3200" b="0" dirty="0"/>
              <a:t>Transition Table</a:t>
            </a:r>
            <a:endParaRPr lang="en-AE" sz="3200" b="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D0CE8C8-CC9A-6BA4-5D47-68541B810C00}"/>
              </a:ext>
            </a:extLst>
          </p:cNvPr>
          <p:cNvCxnSpPr>
            <a:cxnSpLocks/>
          </p:cNvCxnSpPr>
          <p:nvPr/>
        </p:nvCxnSpPr>
        <p:spPr>
          <a:xfrm flipV="1">
            <a:off x="10545746" y="4368185"/>
            <a:ext cx="0" cy="9083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9E30C2A-6415-C6C4-D0C1-A25D596EAD5A}"/>
              </a:ext>
            </a:extLst>
          </p:cNvPr>
          <p:cNvSpPr txBox="1"/>
          <p:nvPr/>
        </p:nvSpPr>
        <p:spPr>
          <a:xfrm>
            <a:off x="9296400" y="3697711"/>
            <a:ext cx="2732343" cy="701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200" b="0" dirty="0"/>
              <a:t>Initial State</a:t>
            </a:r>
            <a:endParaRPr lang="en-AE" sz="3200" b="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F463AF-33E2-041A-DD35-406D83EA25C2}"/>
              </a:ext>
            </a:extLst>
          </p:cNvPr>
          <p:cNvSpPr txBox="1"/>
          <p:nvPr/>
        </p:nvSpPr>
        <p:spPr>
          <a:xfrm>
            <a:off x="11059857" y="5981700"/>
            <a:ext cx="2732343" cy="701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r>
              <a:rPr lang="en-GB" sz="3200" b="0" dirty="0"/>
              <a:t>Final States</a:t>
            </a:r>
            <a:endParaRPr lang="en-AE" sz="3200" b="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3DE5DF8-9601-1205-F999-A653D5886D14}"/>
              </a:ext>
            </a:extLst>
          </p:cNvPr>
          <p:cNvCxnSpPr>
            <a:cxnSpLocks/>
          </p:cNvCxnSpPr>
          <p:nvPr/>
        </p:nvCxnSpPr>
        <p:spPr>
          <a:xfrm flipH="1" flipV="1">
            <a:off x="8372633" y="4502780"/>
            <a:ext cx="771366" cy="7354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EEF0694-356F-0F86-846C-CC9058482389}"/>
              </a:ext>
            </a:extLst>
          </p:cNvPr>
          <p:cNvSpPr txBox="1"/>
          <p:nvPr/>
        </p:nvSpPr>
        <p:spPr>
          <a:xfrm>
            <a:off x="6395385" y="3801370"/>
            <a:ext cx="2901015" cy="701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200" b="0" dirty="0"/>
              <a:t>Stack Alphabets</a:t>
            </a:r>
            <a:endParaRPr lang="en-AE" sz="3200" b="0" dirty="0"/>
          </a:p>
        </p:txBody>
      </p:sp>
    </p:spTree>
    <p:extLst>
      <p:ext uri="{BB962C8B-B14F-4D97-AF65-F5344CB8AC3E}">
        <p14:creationId xmlns:p14="http://schemas.microsoft.com/office/powerpoint/2010/main" val="4005616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45470" y="-2376191"/>
            <a:ext cx="5272633" cy="527263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914620" y="7117545"/>
            <a:ext cx="5704840" cy="57048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323752" y="9567782"/>
            <a:ext cx="1839350" cy="183935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51846" y="2203119"/>
            <a:ext cx="1386647" cy="138664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Freeform 15"/>
          <p:cNvSpPr/>
          <p:nvPr/>
        </p:nvSpPr>
        <p:spPr>
          <a:xfrm>
            <a:off x="-1107912" y="-1038882"/>
            <a:ext cx="2972604" cy="2972604"/>
          </a:xfrm>
          <a:custGeom>
            <a:avLst/>
            <a:gdLst/>
            <a:ahLst/>
            <a:cxnLst/>
            <a:rect l="l" t="t" r="r" b="b"/>
            <a:pathLst>
              <a:path w="2972604" h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6" name="Freeform 16"/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7" name="Freeform 17"/>
          <p:cNvSpPr/>
          <p:nvPr/>
        </p:nvSpPr>
        <p:spPr>
          <a:xfrm>
            <a:off x="16637449" y="8575609"/>
            <a:ext cx="3216273" cy="3216273"/>
          </a:xfrm>
          <a:custGeom>
            <a:avLst/>
            <a:gdLst/>
            <a:ahLst/>
            <a:cxnLst/>
            <a:rect l="l" t="t" r="r" b="b"/>
            <a:pathLst>
              <a:path w="3216273" h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/>
          <p:cNvSpPr/>
          <p:nvPr/>
        </p:nvSpPr>
        <p:spPr>
          <a:xfrm>
            <a:off x="16986566" y="7117545"/>
            <a:ext cx="1031856" cy="1031856"/>
          </a:xfrm>
          <a:custGeom>
            <a:avLst/>
            <a:gdLst/>
            <a:ahLst/>
            <a:cxnLst/>
            <a:rect l="l" t="t" r="r" b="b"/>
            <a:pathLst>
              <a:path w="1031856" h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Freeform 19"/>
          <p:cNvSpPr/>
          <p:nvPr/>
        </p:nvSpPr>
        <p:spPr>
          <a:xfrm>
            <a:off x="2284594" y="-1726493"/>
            <a:ext cx="2664744" cy="2664744"/>
          </a:xfrm>
          <a:custGeom>
            <a:avLst/>
            <a:gdLst/>
            <a:ahLst/>
            <a:cxnLst/>
            <a:rect l="l" t="t" r="r" b="b"/>
            <a:pathLst>
              <a:path w="2664744" h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0" name="Freeform 20"/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1" name="TextBox 21"/>
          <p:cNvSpPr txBox="1"/>
          <p:nvPr/>
        </p:nvSpPr>
        <p:spPr>
          <a:xfrm>
            <a:off x="2520671" y="1089069"/>
            <a:ext cx="13442955" cy="13874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47"/>
              </a:lnSpc>
            </a:pPr>
            <a:r>
              <a:rPr lang="en-US" sz="8462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Transition</a:t>
            </a:r>
          </a:p>
        </p:txBody>
      </p:sp>
      <p:sp>
        <p:nvSpPr>
          <p:cNvPr id="24" name="Freeform 24"/>
          <p:cNvSpPr/>
          <p:nvPr/>
        </p:nvSpPr>
        <p:spPr>
          <a:xfrm>
            <a:off x="677958" y="136301"/>
            <a:ext cx="2608154" cy="2608154"/>
          </a:xfrm>
          <a:custGeom>
            <a:avLst/>
            <a:gdLst/>
            <a:ahLst/>
            <a:cxnLst/>
            <a:rect l="l" t="t" r="r" b="b"/>
            <a:pathLst>
              <a:path w="2608154" h="2608154">
                <a:moveTo>
                  <a:pt x="0" y="0"/>
                </a:moveTo>
                <a:lnTo>
                  <a:pt x="2608154" y="0"/>
                </a:lnTo>
                <a:lnTo>
                  <a:pt x="2608154" y="2608154"/>
                </a:lnTo>
                <a:lnTo>
                  <a:pt x="0" y="26081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D071807-1ECC-1040-5A7D-41E764FF1B9F}"/>
              </a:ext>
            </a:extLst>
          </p:cNvPr>
          <p:cNvSpPr/>
          <p:nvPr/>
        </p:nvSpPr>
        <p:spPr>
          <a:xfrm>
            <a:off x="4472776" y="4972050"/>
            <a:ext cx="1695450" cy="1695450"/>
          </a:xfrm>
          <a:prstGeom prst="ellipse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solidFill>
                  <a:srgbClr val="C00000"/>
                </a:solidFill>
              </a:rPr>
              <a:t>S1</a:t>
            </a:r>
            <a:endParaRPr lang="en-AE" sz="3600" b="1" dirty="0">
              <a:solidFill>
                <a:srgbClr val="C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313BBF-D669-8746-D449-CCA0DC8E6BF8}"/>
              </a:ext>
            </a:extLst>
          </p:cNvPr>
          <p:cNvSpPr txBox="1"/>
          <p:nvPr/>
        </p:nvSpPr>
        <p:spPr>
          <a:xfrm>
            <a:off x="7444576" y="5020272"/>
            <a:ext cx="3434346" cy="70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200" b="0" dirty="0"/>
              <a:t>Input, Pop </a:t>
            </a:r>
            <a:r>
              <a:rPr lang="en-GB" sz="3200" b="0" dirty="0">
                <a:sym typeface="Wingdings" panose="05000000000000000000" pitchFamily="2" charset="2"/>
              </a:rPr>
              <a:t> Push</a:t>
            </a:r>
            <a:endParaRPr lang="en-AE" sz="3200" b="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491E15E-C190-A5EC-D02F-4996788770D7}"/>
              </a:ext>
            </a:extLst>
          </p:cNvPr>
          <p:cNvCxnSpPr>
            <a:cxnSpLocks/>
            <a:stCxn id="25" idx="6"/>
            <a:endCxn id="23" idx="2"/>
          </p:cNvCxnSpPr>
          <p:nvPr/>
        </p:nvCxnSpPr>
        <p:spPr>
          <a:xfrm flipV="1">
            <a:off x="6168226" y="5818801"/>
            <a:ext cx="6004724" cy="97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5C46A966-F0E4-9976-0F69-07D041A9BB28}"/>
              </a:ext>
            </a:extLst>
          </p:cNvPr>
          <p:cNvSpPr/>
          <p:nvPr/>
        </p:nvSpPr>
        <p:spPr>
          <a:xfrm>
            <a:off x="12172950" y="4971076"/>
            <a:ext cx="1695450" cy="1695450"/>
          </a:xfrm>
          <a:prstGeom prst="ellipse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solidFill>
                  <a:srgbClr val="C00000"/>
                </a:solidFill>
              </a:rPr>
              <a:t>S2</a:t>
            </a:r>
            <a:endParaRPr lang="en-AE" sz="3600" b="1" dirty="0">
              <a:solidFill>
                <a:srgbClr val="C0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9CFEF5-A2F7-6C40-F0BE-3ED04073E748}"/>
              </a:ext>
            </a:extLst>
          </p:cNvPr>
          <p:cNvSpPr txBox="1"/>
          <p:nvPr/>
        </p:nvSpPr>
        <p:spPr>
          <a:xfrm>
            <a:off x="7239000" y="4457700"/>
            <a:ext cx="3434346" cy="70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200" b="0" dirty="0"/>
              <a:t>Input, Pop, </a:t>
            </a:r>
            <a:r>
              <a:rPr lang="en-GB" sz="3200" b="0" dirty="0">
                <a:sym typeface="Wingdings" panose="05000000000000000000" pitchFamily="2" charset="2"/>
              </a:rPr>
              <a:t>Push</a:t>
            </a:r>
            <a:endParaRPr lang="en-AE" sz="3200" b="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9875C7-FB1A-C2E9-0ECC-D6A5DF4AA94F}"/>
              </a:ext>
            </a:extLst>
          </p:cNvPr>
          <p:cNvSpPr txBox="1"/>
          <p:nvPr/>
        </p:nvSpPr>
        <p:spPr>
          <a:xfrm>
            <a:off x="7394985" y="5814074"/>
            <a:ext cx="3434346" cy="70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200" b="0" dirty="0"/>
              <a:t>a, $ </a:t>
            </a:r>
            <a:r>
              <a:rPr lang="en-GB" sz="3200" b="0" dirty="0">
                <a:sym typeface="Wingdings" panose="05000000000000000000" pitchFamily="2" charset="2"/>
              </a:rPr>
              <a:t> b</a:t>
            </a:r>
            <a:endParaRPr lang="en-AE" sz="3200" b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F2535A-317D-BBD2-F588-5B49E49746F5}"/>
              </a:ext>
            </a:extLst>
          </p:cNvPr>
          <p:cNvSpPr txBox="1"/>
          <p:nvPr/>
        </p:nvSpPr>
        <p:spPr>
          <a:xfrm>
            <a:off x="7426827" y="6210300"/>
            <a:ext cx="3434346" cy="70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200" b="0" dirty="0"/>
              <a:t>a, $, </a:t>
            </a:r>
            <a:r>
              <a:rPr lang="en-GB" sz="3200" b="0" dirty="0">
                <a:sym typeface="Wingdings" panose="05000000000000000000" pitchFamily="2" charset="2"/>
              </a:rPr>
              <a:t>b</a:t>
            </a:r>
            <a:endParaRPr lang="en-AE" sz="3200" b="0" dirty="0"/>
          </a:p>
        </p:txBody>
      </p:sp>
    </p:spTree>
    <p:extLst>
      <p:ext uri="{BB962C8B-B14F-4D97-AF65-F5344CB8AC3E}">
        <p14:creationId xmlns:p14="http://schemas.microsoft.com/office/powerpoint/2010/main" val="392785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9" grpId="0"/>
      <p:bldP spid="29" grpId="1"/>
      <p:bldP spid="23" grpId="0" animBg="1"/>
      <p:bldP spid="35" grpId="0"/>
      <p:bldP spid="36" grpId="0"/>
      <p:bldP spid="36" grpId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45470" y="-2376191"/>
            <a:ext cx="5272633" cy="527263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914620" y="7117545"/>
            <a:ext cx="5704840" cy="57048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323752" y="9567782"/>
            <a:ext cx="1839350" cy="183935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51846" y="2203119"/>
            <a:ext cx="1386647" cy="138664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Freeform 15"/>
          <p:cNvSpPr/>
          <p:nvPr/>
        </p:nvSpPr>
        <p:spPr>
          <a:xfrm>
            <a:off x="-1107912" y="-1038882"/>
            <a:ext cx="2972604" cy="2972604"/>
          </a:xfrm>
          <a:custGeom>
            <a:avLst/>
            <a:gdLst/>
            <a:ahLst/>
            <a:cxnLst/>
            <a:rect l="l" t="t" r="r" b="b"/>
            <a:pathLst>
              <a:path w="2972604" h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6" name="Freeform 16"/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7" name="Freeform 17"/>
          <p:cNvSpPr/>
          <p:nvPr/>
        </p:nvSpPr>
        <p:spPr>
          <a:xfrm>
            <a:off x="16637449" y="8575609"/>
            <a:ext cx="3216273" cy="3216273"/>
          </a:xfrm>
          <a:custGeom>
            <a:avLst/>
            <a:gdLst/>
            <a:ahLst/>
            <a:cxnLst/>
            <a:rect l="l" t="t" r="r" b="b"/>
            <a:pathLst>
              <a:path w="3216273" h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/>
          <p:cNvSpPr/>
          <p:nvPr/>
        </p:nvSpPr>
        <p:spPr>
          <a:xfrm>
            <a:off x="16986566" y="7117545"/>
            <a:ext cx="1031856" cy="1031856"/>
          </a:xfrm>
          <a:custGeom>
            <a:avLst/>
            <a:gdLst/>
            <a:ahLst/>
            <a:cxnLst/>
            <a:rect l="l" t="t" r="r" b="b"/>
            <a:pathLst>
              <a:path w="1031856" h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Freeform 19"/>
          <p:cNvSpPr/>
          <p:nvPr/>
        </p:nvSpPr>
        <p:spPr>
          <a:xfrm>
            <a:off x="2284594" y="-1726493"/>
            <a:ext cx="2664744" cy="2664744"/>
          </a:xfrm>
          <a:custGeom>
            <a:avLst/>
            <a:gdLst/>
            <a:ahLst/>
            <a:cxnLst/>
            <a:rect l="l" t="t" r="r" b="b"/>
            <a:pathLst>
              <a:path w="2664744" h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0" name="Freeform 20"/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1" name="TextBox 21"/>
          <p:cNvSpPr txBox="1"/>
          <p:nvPr/>
        </p:nvSpPr>
        <p:spPr>
          <a:xfrm>
            <a:off x="4931568" y="2238292"/>
            <a:ext cx="8424863" cy="1387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47"/>
              </a:lnSpc>
            </a:pPr>
            <a:r>
              <a:rPr lang="en-US" sz="8462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Example 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12855" y="4247429"/>
            <a:ext cx="12462289" cy="770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47"/>
              </a:lnSpc>
            </a:pPr>
            <a:r>
              <a:rPr lang="en-US" sz="4534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M: L(M) = {a</a:t>
            </a:r>
            <a:r>
              <a:rPr lang="en-US" sz="4534" b="1" baseline="30000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m</a:t>
            </a:r>
            <a:r>
              <a:rPr lang="en-US" sz="4534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 b</a:t>
            </a:r>
            <a:r>
              <a:rPr lang="en-US" sz="4534" b="1" baseline="30000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m</a:t>
            </a:r>
            <a:r>
              <a:rPr lang="en-US" sz="4534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 | m&gt;= 0}</a:t>
            </a:r>
          </a:p>
        </p:txBody>
      </p:sp>
      <p:sp>
        <p:nvSpPr>
          <p:cNvPr id="24" name="Freeform 24"/>
          <p:cNvSpPr/>
          <p:nvPr/>
        </p:nvSpPr>
        <p:spPr>
          <a:xfrm>
            <a:off x="677958" y="136301"/>
            <a:ext cx="2608154" cy="2608154"/>
          </a:xfrm>
          <a:custGeom>
            <a:avLst/>
            <a:gdLst/>
            <a:ahLst/>
            <a:cxnLst/>
            <a:rect l="l" t="t" r="r" b="b"/>
            <a:pathLst>
              <a:path w="2608154" h="2608154">
                <a:moveTo>
                  <a:pt x="0" y="0"/>
                </a:moveTo>
                <a:lnTo>
                  <a:pt x="2608154" y="0"/>
                </a:lnTo>
                <a:lnTo>
                  <a:pt x="2608154" y="2608154"/>
                </a:lnTo>
                <a:lnTo>
                  <a:pt x="0" y="26081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EB0F9F88-CE42-4EB9-7B88-05F2ADA038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7835" y="5202791"/>
            <a:ext cx="15052200" cy="352210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4602937-7E36-36ED-F25C-09022B1AC9DA}"/>
              </a:ext>
            </a:extLst>
          </p:cNvPr>
          <p:cNvSpPr txBox="1"/>
          <p:nvPr/>
        </p:nvSpPr>
        <p:spPr>
          <a:xfrm>
            <a:off x="8077200" y="7055703"/>
            <a:ext cx="2286000" cy="830997"/>
          </a:xfrm>
          <a:prstGeom prst="rect">
            <a:avLst/>
          </a:prstGeom>
          <a:solidFill>
            <a:srgbClr val="F8F8FF"/>
          </a:solidFill>
        </p:spPr>
        <p:txBody>
          <a:bodyPr wrap="square" rtlCol="0">
            <a:spAutoFit/>
          </a:bodyPr>
          <a:lstStyle/>
          <a:p>
            <a:r>
              <a:rPr lang="el-GR" sz="4800" i="1" dirty="0">
                <a:latin typeface="Arial" panose="020B0604020202020204" pitchFamily="34" charset="0"/>
                <a:cs typeface="Arial" panose="020B0604020202020204" pitchFamily="34" charset="0"/>
              </a:rPr>
              <a:t>ε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l-GR" sz="4800" i="1" dirty="0">
                <a:latin typeface="Arial" panose="020B0604020202020204" pitchFamily="34" charset="0"/>
                <a:cs typeface="Arial" panose="020B0604020202020204" pitchFamily="34" charset="0"/>
              </a:rPr>
              <a:t>ε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l-GR" sz="4800" dirty="0">
                <a:latin typeface="Arial" panose="020B0604020202020204" pitchFamily="34" charset="0"/>
                <a:cs typeface="Arial" panose="020B0604020202020204" pitchFamily="34" charset="0"/>
              </a:rPr>
              <a:t>ε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AE" sz="4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45470" y="-2376191"/>
            <a:ext cx="5272633" cy="527263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914620" y="7117545"/>
            <a:ext cx="5704840" cy="57048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323752" y="9567782"/>
            <a:ext cx="1839350" cy="183935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51846" y="2203119"/>
            <a:ext cx="1386647" cy="138664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Freeform 15"/>
          <p:cNvSpPr/>
          <p:nvPr/>
        </p:nvSpPr>
        <p:spPr>
          <a:xfrm>
            <a:off x="-1107912" y="-1038882"/>
            <a:ext cx="2972604" cy="2972604"/>
          </a:xfrm>
          <a:custGeom>
            <a:avLst/>
            <a:gdLst/>
            <a:ahLst/>
            <a:cxnLst/>
            <a:rect l="l" t="t" r="r" b="b"/>
            <a:pathLst>
              <a:path w="2972604" h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6" name="Freeform 16"/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7" name="Freeform 17"/>
          <p:cNvSpPr/>
          <p:nvPr/>
        </p:nvSpPr>
        <p:spPr>
          <a:xfrm>
            <a:off x="16637449" y="8575609"/>
            <a:ext cx="3216273" cy="3216273"/>
          </a:xfrm>
          <a:custGeom>
            <a:avLst/>
            <a:gdLst/>
            <a:ahLst/>
            <a:cxnLst/>
            <a:rect l="l" t="t" r="r" b="b"/>
            <a:pathLst>
              <a:path w="3216273" h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/>
          <p:cNvSpPr/>
          <p:nvPr/>
        </p:nvSpPr>
        <p:spPr>
          <a:xfrm>
            <a:off x="16986566" y="7117545"/>
            <a:ext cx="1031856" cy="1031856"/>
          </a:xfrm>
          <a:custGeom>
            <a:avLst/>
            <a:gdLst/>
            <a:ahLst/>
            <a:cxnLst/>
            <a:rect l="l" t="t" r="r" b="b"/>
            <a:pathLst>
              <a:path w="1031856" h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Freeform 19"/>
          <p:cNvSpPr/>
          <p:nvPr/>
        </p:nvSpPr>
        <p:spPr>
          <a:xfrm>
            <a:off x="2284594" y="-1726493"/>
            <a:ext cx="2664744" cy="2664744"/>
          </a:xfrm>
          <a:custGeom>
            <a:avLst/>
            <a:gdLst/>
            <a:ahLst/>
            <a:cxnLst/>
            <a:rect l="l" t="t" r="r" b="b"/>
            <a:pathLst>
              <a:path w="2664744" h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0" name="Freeform 20"/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1" name="TextBox 21"/>
          <p:cNvSpPr txBox="1"/>
          <p:nvPr/>
        </p:nvSpPr>
        <p:spPr>
          <a:xfrm>
            <a:off x="4931568" y="2238292"/>
            <a:ext cx="8424863" cy="1387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47"/>
              </a:lnSpc>
            </a:pPr>
            <a:r>
              <a:rPr lang="en-US" sz="8462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Example 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12855" y="4247429"/>
            <a:ext cx="12462289" cy="770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47"/>
              </a:lnSpc>
            </a:pPr>
            <a:r>
              <a:rPr lang="en-US" sz="4534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M: L(M) = {a</a:t>
            </a:r>
            <a:r>
              <a:rPr lang="en-US" sz="4534" b="1" baseline="30000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i</a:t>
            </a:r>
            <a:r>
              <a:rPr lang="en-US" sz="4534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 </a:t>
            </a:r>
            <a:r>
              <a:rPr lang="en-US" sz="4534" b="1" dirty="0" err="1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b</a:t>
            </a:r>
            <a:r>
              <a:rPr lang="en-US" sz="4534" b="1" baseline="30000" dirty="0" err="1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j</a:t>
            </a:r>
            <a:r>
              <a:rPr lang="en-US" sz="4534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 c</a:t>
            </a:r>
            <a:r>
              <a:rPr lang="en-US" sz="4534" b="1" baseline="30000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k</a:t>
            </a:r>
            <a:r>
              <a:rPr lang="en-US" sz="4534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 | </a:t>
            </a:r>
            <a:r>
              <a:rPr lang="en-US" sz="4534" b="1" dirty="0" err="1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i</a:t>
            </a:r>
            <a:r>
              <a:rPr lang="en-US" sz="4534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, j, k &gt;= 0 and </a:t>
            </a:r>
            <a:r>
              <a:rPr lang="en-US" sz="4534" b="1" dirty="0" err="1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i</a:t>
            </a:r>
            <a:r>
              <a:rPr lang="en-US" sz="4534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 = j or </a:t>
            </a:r>
            <a:r>
              <a:rPr lang="en-US" sz="4534" b="1" dirty="0" err="1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i</a:t>
            </a:r>
            <a:r>
              <a:rPr lang="en-US" sz="4534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 = k}</a:t>
            </a:r>
          </a:p>
        </p:txBody>
      </p:sp>
      <p:sp>
        <p:nvSpPr>
          <p:cNvPr id="24" name="Freeform 24"/>
          <p:cNvSpPr/>
          <p:nvPr/>
        </p:nvSpPr>
        <p:spPr>
          <a:xfrm>
            <a:off x="677958" y="136301"/>
            <a:ext cx="2608154" cy="2608154"/>
          </a:xfrm>
          <a:custGeom>
            <a:avLst/>
            <a:gdLst/>
            <a:ahLst/>
            <a:cxnLst/>
            <a:rect l="l" t="t" r="r" b="b"/>
            <a:pathLst>
              <a:path w="2608154" h="2608154">
                <a:moveTo>
                  <a:pt x="0" y="0"/>
                </a:moveTo>
                <a:lnTo>
                  <a:pt x="2608154" y="0"/>
                </a:lnTo>
                <a:lnTo>
                  <a:pt x="2608154" y="2608154"/>
                </a:lnTo>
                <a:lnTo>
                  <a:pt x="0" y="26081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0939523-FBD3-A8CD-5C61-BB4A3E1CE4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5089567"/>
            <a:ext cx="14436738" cy="51593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45470" y="-2376191"/>
            <a:ext cx="5272633" cy="527263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914620" y="7117545"/>
            <a:ext cx="5704840" cy="57048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323752" y="9567782"/>
            <a:ext cx="1839350" cy="183935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51846" y="2203119"/>
            <a:ext cx="1386647" cy="138664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Freeform 15"/>
          <p:cNvSpPr/>
          <p:nvPr/>
        </p:nvSpPr>
        <p:spPr>
          <a:xfrm>
            <a:off x="-1107912" y="-1038882"/>
            <a:ext cx="2972604" cy="2972604"/>
          </a:xfrm>
          <a:custGeom>
            <a:avLst/>
            <a:gdLst/>
            <a:ahLst/>
            <a:cxnLst/>
            <a:rect l="l" t="t" r="r" b="b"/>
            <a:pathLst>
              <a:path w="2972604" h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6" name="Freeform 16"/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7" name="Freeform 17"/>
          <p:cNvSpPr/>
          <p:nvPr/>
        </p:nvSpPr>
        <p:spPr>
          <a:xfrm>
            <a:off x="16637449" y="8575609"/>
            <a:ext cx="3216273" cy="3216273"/>
          </a:xfrm>
          <a:custGeom>
            <a:avLst/>
            <a:gdLst/>
            <a:ahLst/>
            <a:cxnLst/>
            <a:rect l="l" t="t" r="r" b="b"/>
            <a:pathLst>
              <a:path w="3216273" h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/>
          <p:cNvSpPr/>
          <p:nvPr/>
        </p:nvSpPr>
        <p:spPr>
          <a:xfrm>
            <a:off x="16986566" y="7117545"/>
            <a:ext cx="1031856" cy="1031856"/>
          </a:xfrm>
          <a:custGeom>
            <a:avLst/>
            <a:gdLst/>
            <a:ahLst/>
            <a:cxnLst/>
            <a:rect l="l" t="t" r="r" b="b"/>
            <a:pathLst>
              <a:path w="1031856" h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Freeform 19"/>
          <p:cNvSpPr/>
          <p:nvPr/>
        </p:nvSpPr>
        <p:spPr>
          <a:xfrm>
            <a:off x="2284594" y="-1726493"/>
            <a:ext cx="2664744" cy="2664744"/>
          </a:xfrm>
          <a:custGeom>
            <a:avLst/>
            <a:gdLst/>
            <a:ahLst/>
            <a:cxnLst/>
            <a:rect l="l" t="t" r="r" b="b"/>
            <a:pathLst>
              <a:path w="2664744" h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0" name="Freeform 20"/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1" name="TextBox 21"/>
          <p:cNvSpPr txBox="1"/>
          <p:nvPr/>
        </p:nvSpPr>
        <p:spPr>
          <a:xfrm>
            <a:off x="2656685" y="3092700"/>
            <a:ext cx="13032000" cy="4032000"/>
          </a:xfrm>
          <a:custGeom>
            <a:avLst/>
            <a:gdLst>
              <a:gd name="csX0" fmla="*/ 0 w 13032000"/>
              <a:gd name="csY0" fmla="*/ 0 h 4032000"/>
              <a:gd name="csX1" fmla="*/ 13032000 w 13032000"/>
              <a:gd name="csY1" fmla="*/ 0 h 4032000"/>
              <a:gd name="csX2" fmla="*/ 13032000 w 13032000"/>
              <a:gd name="csY2" fmla="*/ 4032000 h 4032000"/>
              <a:gd name="csX3" fmla="*/ 0 w 13032000"/>
              <a:gd name="csY3" fmla="*/ 4032000 h 4032000"/>
              <a:gd name="csX4" fmla="*/ 0 w 13032000"/>
              <a:gd name="csY4" fmla="*/ 0 h 4032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032000" h="4032000" fill="none" extrusionOk="0">
                <a:moveTo>
                  <a:pt x="0" y="0"/>
                </a:moveTo>
                <a:cubicBezTo>
                  <a:pt x="2283817" y="31860"/>
                  <a:pt x="8215696" y="92369"/>
                  <a:pt x="13032000" y="0"/>
                </a:cubicBezTo>
                <a:cubicBezTo>
                  <a:pt x="13151948" y="1415276"/>
                  <a:pt x="12908442" y="2996256"/>
                  <a:pt x="13032000" y="4032000"/>
                </a:cubicBezTo>
                <a:cubicBezTo>
                  <a:pt x="9433624" y="4117307"/>
                  <a:pt x="1856055" y="3982162"/>
                  <a:pt x="0" y="4032000"/>
                </a:cubicBezTo>
                <a:cubicBezTo>
                  <a:pt x="-52793" y="3528036"/>
                  <a:pt x="-119119" y="1062601"/>
                  <a:pt x="0" y="0"/>
                </a:cubicBezTo>
                <a:close/>
              </a:path>
              <a:path w="13032000" h="4032000" stroke="0" extrusionOk="0">
                <a:moveTo>
                  <a:pt x="0" y="0"/>
                </a:moveTo>
                <a:cubicBezTo>
                  <a:pt x="2955186" y="-22418"/>
                  <a:pt x="9009899" y="32390"/>
                  <a:pt x="13032000" y="0"/>
                </a:cubicBezTo>
                <a:cubicBezTo>
                  <a:pt x="13129753" y="1431053"/>
                  <a:pt x="12895468" y="2358869"/>
                  <a:pt x="13032000" y="4032000"/>
                </a:cubicBezTo>
                <a:cubicBezTo>
                  <a:pt x="7625165" y="4183875"/>
                  <a:pt x="3053091" y="3870241"/>
                  <a:pt x="0" y="4032000"/>
                </a:cubicBezTo>
                <a:cubicBezTo>
                  <a:pt x="16650" y="2391880"/>
                  <a:pt x="-42570" y="1791762"/>
                  <a:pt x="0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9081528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11847"/>
              </a:lnSpc>
            </a:pPr>
            <a:r>
              <a:rPr lang="en-US" sz="11500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Now, let’s try to covert CFG to PDA</a:t>
            </a:r>
          </a:p>
        </p:txBody>
      </p:sp>
      <p:sp>
        <p:nvSpPr>
          <p:cNvPr id="24" name="Freeform 24"/>
          <p:cNvSpPr/>
          <p:nvPr/>
        </p:nvSpPr>
        <p:spPr>
          <a:xfrm>
            <a:off x="677958" y="136301"/>
            <a:ext cx="2608154" cy="2608154"/>
          </a:xfrm>
          <a:custGeom>
            <a:avLst/>
            <a:gdLst/>
            <a:ahLst/>
            <a:cxnLst/>
            <a:rect l="l" t="t" r="r" b="b"/>
            <a:pathLst>
              <a:path w="2608154" h="2608154">
                <a:moveTo>
                  <a:pt x="0" y="0"/>
                </a:moveTo>
                <a:lnTo>
                  <a:pt x="2608154" y="0"/>
                </a:lnTo>
                <a:lnTo>
                  <a:pt x="2608154" y="2608154"/>
                </a:lnTo>
                <a:lnTo>
                  <a:pt x="0" y="26081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45470" y="-2376191"/>
            <a:ext cx="5272633" cy="527263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914620" y="7117545"/>
            <a:ext cx="5704840" cy="57048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323752" y="9567782"/>
            <a:ext cx="1839350" cy="183935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51846" y="2203119"/>
            <a:ext cx="1386647" cy="138664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-1107912" y="-1038882"/>
            <a:ext cx="2972604" cy="2972604"/>
          </a:xfrm>
          <a:custGeom>
            <a:avLst/>
            <a:gdLst/>
            <a:ahLst/>
            <a:cxnLst/>
            <a:rect l="l" t="t" r="r" b="b"/>
            <a:pathLst>
              <a:path w="2972604" h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6" name="Freeform 16"/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7" name="Freeform 17"/>
          <p:cNvSpPr/>
          <p:nvPr/>
        </p:nvSpPr>
        <p:spPr>
          <a:xfrm>
            <a:off x="16637449" y="8575609"/>
            <a:ext cx="3216273" cy="3216273"/>
          </a:xfrm>
          <a:custGeom>
            <a:avLst/>
            <a:gdLst/>
            <a:ahLst/>
            <a:cxnLst/>
            <a:rect l="l" t="t" r="r" b="b"/>
            <a:pathLst>
              <a:path w="3216273" h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/>
          <p:cNvSpPr/>
          <p:nvPr/>
        </p:nvSpPr>
        <p:spPr>
          <a:xfrm>
            <a:off x="16986566" y="7117545"/>
            <a:ext cx="1031856" cy="1031856"/>
          </a:xfrm>
          <a:custGeom>
            <a:avLst/>
            <a:gdLst/>
            <a:ahLst/>
            <a:cxnLst/>
            <a:rect l="l" t="t" r="r" b="b"/>
            <a:pathLst>
              <a:path w="1031856" h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Freeform 19"/>
          <p:cNvSpPr/>
          <p:nvPr/>
        </p:nvSpPr>
        <p:spPr>
          <a:xfrm>
            <a:off x="2284594" y="-1726493"/>
            <a:ext cx="2664744" cy="2664744"/>
          </a:xfrm>
          <a:custGeom>
            <a:avLst/>
            <a:gdLst/>
            <a:ahLst/>
            <a:cxnLst/>
            <a:rect l="l" t="t" r="r" b="b"/>
            <a:pathLst>
              <a:path w="2664744" h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0" name="Freeform 20"/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1" name="TextBox 21"/>
          <p:cNvSpPr txBox="1"/>
          <p:nvPr/>
        </p:nvSpPr>
        <p:spPr>
          <a:xfrm>
            <a:off x="4931568" y="1771797"/>
            <a:ext cx="8424863" cy="1387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47"/>
              </a:lnSpc>
            </a:pPr>
            <a:r>
              <a:rPr lang="en-US" sz="8462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Steps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48053" y="3086100"/>
            <a:ext cx="13570486" cy="6081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5E376D"/>
                </a:solidFill>
                <a:latin typeface="Rosario"/>
                <a:ea typeface="Rosario"/>
                <a:cs typeface="Rosario"/>
                <a:sym typeface="Rosario"/>
              </a:rPr>
              <a:t>Push $ to Stack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5E376D"/>
                </a:solidFill>
                <a:latin typeface="Rosario"/>
                <a:ea typeface="Rosario"/>
                <a:cs typeface="Rosario"/>
                <a:sym typeface="Rosario"/>
              </a:rPr>
              <a:t>Push Start Symbol to stack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5E376D"/>
                </a:solidFill>
                <a:latin typeface="Rosario"/>
                <a:ea typeface="Rosario"/>
                <a:cs typeface="Rosario"/>
                <a:sym typeface="Rosario"/>
              </a:rPr>
              <a:t>Pop/Push Variables in the main loop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5E376D"/>
                </a:solidFill>
                <a:latin typeface="Rosario"/>
                <a:ea typeface="Rosario"/>
                <a:cs typeface="Rosario"/>
                <a:sym typeface="Rosario"/>
              </a:rPr>
              <a:t>Pop/Push terminals in the main loop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5E376D"/>
                </a:solidFill>
                <a:latin typeface="Rosario"/>
                <a:ea typeface="Rosario"/>
                <a:cs typeface="Rosario"/>
                <a:sym typeface="Rosario"/>
              </a:rPr>
              <a:t>Match $ to move to accept state</a:t>
            </a:r>
          </a:p>
        </p:txBody>
      </p:sp>
      <p:sp>
        <p:nvSpPr>
          <p:cNvPr id="26" name="Freeform 26"/>
          <p:cNvSpPr/>
          <p:nvPr/>
        </p:nvSpPr>
        <p:spPr>
          <a:xfrm>
            <a:off x="677958" y="136301"/>
            <a:ext cx="2608154" cy="2608154"/>
          </a:xfrm>
          <a:custGeom>
            <a:avLst/>
            <a:gdLst/>
            <a:ahLst/>
            <a:cxnLst/>
            <a:rect l="l" t="t" r="r" b="b"/>
            <a:pathLst>
              <a:path w="2608154" h="2608154">
                <a:moveTo>
                  <a:pt x="0" y="0"/>
                </a:moveTo>
                <a:lnTo>
                  <a:pt x="2608154" y="0"/>
                </a:lnTo>
                <a:lnTo>
                  <a:pt x="2608154" y="2608154"/>
                </a:lnTo>
                <a:lnTo>
                  <a:pt x="0" y="26081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45470" y="-2376191"/>
            <a:ext cx="5272633" cy="527263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914620" y="7117545"/>
            <a:ext cx="5704840" cy="57048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323752" y="9567782"/>
            <a:ext cx="1839350" cy="183935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51846" y="2203119"/>
            <a:ext cx="1386647" cy="138664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Freeform 15"/>
          <p:cNvSpPr/>
          <p:nvPr/>
        </p:nvSpPr>
        <p:spPr>
          <a:xfrm>
            <a:off x="-1107912" y="-1038882"/>
            <a:ext cx="2972604" cy="2972604"/>
          </a:xfrm>
          <a:custGeom>
            <a:avLst/>
            <a:gdLst/>
            <a:ahLst/>
            <a:cxnLst/>
            <a:rect l="l" t="t" r="r" b="b"/>
            <a:pathLst>
              <a:path w="2972604" h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6" name="Freeform 16"/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7" name="Freeform 17"/>
          <p:cNvSpPr/>
          <p:nvPr/>
        </p:nvSpPr>
        <p:spPr>
          <a:xfrm>
            <a:off x="16637449" y="8575609"/>
            <a:ext cx="3216273" cy="3216273"/>
          </a:xfrm>
          <a:custGeom>
            <a:avLst/>
            <a:gdLst/>
            <a:ahLst/>
            <a:cxnLst/>
            <a:rect l="l" t="t" r="r" b="b"/>
            <a:pathLst>
              <a:path w="3216273" h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/>
          <p:cNvSpPr/>
          <p:nvPr/>
        </p:nvSpPr>
        <p:spPr>
          <a:xfrm>
            <a:off x="16986566" y="7117545"/>
            <a:ext cx="1031856" cy="1031856"/>
          </a:xfrm>
          <a:custGeom>
            <a:avLst/>
            <a:gdLst/>
            <a:ahLst/>
            <a:cxnLst/>
            <a:rect l="l" t="t" r="r" b="b"/>
            <a:pathLst>
              <a:path w="1031856" h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Freeform 19"/>
          <p:cNvSpPr/>
          <p:nvPr/>
        </p:nvSpPr>
        <p:spPr>
          <a:xfrm>
            <a:off x="2284594" y="-1726493"/>
            <a:ext cx="2664744" cy="2664744"/>
          </a:xfrm>
          <a:custGeom>
            <a:avLst/>
            <a:gdLst/>
            <a:ahLst/>
            <a:cxnLst/>
            <a:rect l="l" t="t" r="r" b="b"/>
            <a:pathLst>
              <a:path w="2664744" h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0" name="Freeform 20"/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1" name="TextBox 21"/>
          <p:cNvSpPr txBox="1"/>
          <p:nvPr/>
        </p:nvSpPr>
        <p:spPr>
          <a:xfrm>
            <a:off x="5842716" y="2122828"/>
            <a:ext cx="6602569" cy="144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47"/>
              </a:lnSpc>
            </a:pPr>
            <a:r>
              <a:rPr lang="en-US" sz="8462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Example 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7799" y="3940400"/>
            <a:ext cx="2993589" cy="1333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3104" lvl="1" algn="l">
              <a:lnSpc>
                <a:spcPts val="5227"/>
              </a:lnSpc>
            </a:pP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S </a:t>
            </a: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 </a:t>
            </a:r>
            <a:r>
              <a:rPr lang="en-US" sz="3734" b="1" dirty="0" err="1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aTb</a:t>
            </a: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 | b</a:t>
            </a:r>
          </a:p>
          <a:p>
            <a:pPr marL="403104" lvl="1" algn="l">
              <a:lnSpc>
                <a:spcPts val="5227"/>
              </a:lnSpc>
            </a:pP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T  Tb | </a:t>
            </a:r>
            <a:r>
              <a:rPr lang="el-GR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ε</a:t>
            </a:r>
            <a:endParaRPr lang="en-US" sz="3734" b="1" dirty="0">
              <a:solidFill>
                <a:srgbClr val="5E376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sario"/>
              <a:sym typeface="Rosario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677958" y="136301"/>
            <a:ext cx="2608154" cy="2608154"/>
          </a:xfrm>
          <a:custGeom>
            <a:avLst/>
            <a:gdLst/>
            <a:ahLst/>
            <a:cxnLst/>
            <a:rect l="l" t="t" r="r" b="b"/>
            <a:pathLst>
              <a:path w="2608154" h="2608154">
                <a:moveTo>
                  <a:pt x="0" y="0"/>
                </a:moveTo>
                <a:lnTo>
                  <a:pt x="2608154" y="0"/>
                </a:lnTo>
                <a:lnTo>
                  <a:pt x="2608154" y="2608154"/>
                </a:lnTo>
                <a:lnTo>
                  <a:pt x="0" y="26081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BEE8FE-D59E-966E-A0F3-A293F60D8EF6}"/>
              </a:ext>
            </a:extLst>
          </p:cNvPr>
          <p:cNvSpPr/>
          <p:nvPr/>
        </p:nvSpPr>
        <p:spPr>
          <a:xfrm>
            <a:off x="1938953" y="6325486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1</a:t>
            </a:r>
            <a:endParaRPr lang="en-AE" sz="2800" b="1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5B26CE6-42CF-4FE1-115F-79679555BF77}"/>
              </a:ext>
            </a:extLst>
          </p:cNvPr>
          <p:cNvCxnSpPr/>
          <p:nvPr/>
        </p:nvCxnSpPr>
        <p:spPr>
          <a:xfrm>
            <a:off x="1371600" y="6766802"/>
            <a:ext cx="576000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FE073E0-9F23-4692-8514-2290BDFACA55}"/>
              </a:ext>
            </a:extLst>
          </p:cNvPr>
          <p:cNvSpPr txBox="1"/>
          <p:nvPr/>
        </p:nvSpPr>
        <p:spPr>
          <a:xfrm>
            <a:off x="5704050" y="3583621"/>
            <a:ext cx="11282516" cy="1188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5E376D"/>
                </a:solidFill>
                <a:effectLst/>
                <a:highlight>
                  <a:srgbClr val="FFFF00"/>
                </a:highlight>
                <a:uLnTx/>
                <a:uFillTx/>
                <a:latin typeface="Rosario"/>
                <a:ea typeface="Rosario"/>
                <a:cs typeface="Rosario"/>
                <a:sym typeface="Rosario"/>
              </a:rPr>
              <a:t>Push $ to Stack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2A6873B-3840-B72A-B515-8516E6180711}"/>
              </a:ext>
            </a:extLst>
          </p:cNvPr>
          <p:cNvSpPr/>
          <p:nvPr/>
        </p:nvSpPr>
        <p:spPr>
          <a:xfrm>
            <a:off x="4648200" y="63627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2</a:t>
            </a:r>
            <a:endParaRPr lang="en-AE" sz="2800" b="1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398146E-696E-B6F3-A232-AA9E22FEF4B0}"/>
              </a:ext>
            </a:extLst>
          </p:cNvPr>
          <p:cNvCxnSpPr>
            <a:cxnSpLocks/>
            <a:stCxn id="29" idx="6"/>
            <a:endCxn id="33" idx="2"/>
          </p:cNvCxnSpPr>
          <p:nvPr/>
        </p:nvCxnSpPr>
        <p:spPr>
          <a:xfrm>
            <a:off x="2853353" y="6782686"/>
            <a:ext cx="1794847" cy="372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C0B46F4-3855-99E9-A2DB-0F410FB6A8A7}"/>
              </a:ext>
            </a:extLst>
          </p:cNvPr>
          <p:cNvSpPr txBox="1"/>
          <p:nvPr/>
        </p:nvSpPr>
        <p:spPr>
          <a:xfrm>
            <a:off x="2752165" y="6057900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ε </a:t>
            </a:r>
            <a:r>
              <a:rPr lang="en-GB" sz="3600" b="0" dirty="0">
                <a:sym typeface="Wingdings" panose="05000000000000000000" pitchFamily="2" charset="2"/>
              </a:rPr>
              <a:t> $</a:t>
            </a:r>
            <a:endParaRPr lang="en-AE" sz="36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  <p:bldP spid="33" grpId="0" animBg="1"/>
      <p:bldP spid="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FD2DD-795B-DD88-501F-397735BB6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FAE6EA7-D9C7-5D79-056A-EE5D4BEBD8AF}"/>
              </a:ext>
            </a:extLst>
          </p:cNvPr>
          <p:cNvGrpSpPr/>
          <p:nvPr/>
        </p:nvGrpSpPr>
        <p:grpSpPr>
          <a:xfrm>
            <a:off x="-1945470" y="-2376191"/>
            <a:ext cx="5272633" cy="5272633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CDEA5F5-982C-048E-BF7F-8C605DBAF14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8B70E5A-9C74-87E4-2AF3-444EB0796A2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62D3677-D0DC-C748-A7B2-AB72615D1887}"/>
              </a:ext>
            </a:extLst>
          </p:cNvPr>
          <p:cNvGrpSpPr/>
          <p:nvPr/>
        </p:nvGrpSpPr>
        <p:grpSpPr>
          <a:xfrm>
            <a:off x="14914620" y="7117545"/>
            <a:ext cx="5704840" cy="570484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DC94504-B27B-1DC0-D302-62D50E04F37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1170847-36CF-6DA0-8162-7C4E09B471B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D4EEB84-AA27-FCBF-61E4-EFAE9975624A}"/>
              </a:ext>
            </a:extLst>
          </p:cNvPr>
          <p:cNvGrpSpPr/>
          <p:nvPr/>
        </p:nvGrpSpPr>
        <p:grpSpPr>
          <a:xfrm>
            <a:off x="14323752" y="9567782"/>
            <a:ext cx="1839350" cy="183935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D95BF61-C9E7-B1B7-772F-7BFE10FBA70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45B7F6E-6448-CB25-E61F-F6ED177ED31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5F5ACD8-580F-7C92-48CB-93C4D543297B}"/>
              </a:ext>
            </a:extLst>
          </p:cNvPr>
          <p:cNvGrpSpPr/>
          <p:nvPr/>
        </p:nvGrpSpPr>
        <p:grpSpPr>
          <a:xfrm>
            <a:off x="-651846" y="2203119"/>
            <a:ext cx="1386647" cy="1386647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89AE995-15D7-458B-BD1C-58B61F37BDC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042B9B4-F3DF-D9FE-9CF4-EC95C774A66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00F51963-D898-BB29-E886-BA3080417F4F}"/>
              </a:ext>
            </a:extLst>
          </p:cNvPr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2FD2C738-FEF6-AD2E-5E58-8E5FFEA72FC0}"/>
              </a:ext>
            </a:extLst>
          </p:cNvPr>
          <p:cNvSpPr/>
          <p:nvPr/>
        </p:nvSpPr>
        <p:spPr>
          <a:xfrm>
            <a:off x="-1107912" y="-1038882"/>
            <a:ext cx="2972604" cy="2972604"/>
          </a:xfrm>
          <a:custGeom>
            <a:avLst/>
            <a:gdLst/>
            <a:ahLst/>
            <a:cxnLst/>
            <a:rect l="l" t="t" r="r" b="b"/>
            <a:pathLst>
              <a:path w="2972604" h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6B3A0824-8355-56B3-5687-6DFA9E3A5A44}"/>
              </a:ext>
            </a:extLst>
          </p:cNvPr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3AFDD4BB-4172-37D7-C5C3-71174E7D5F10}"/>
              </a:ext>
            </a:extLst>
          </p:cNvPr>
          <p:cNvSpPr/>
          <p:nvPr/>
        </p:nvSpPr>
        <p:spPr>
          <a:xfrm>
            <a:off x="16637449" y="8575609"/>
            <a:ext cx="3216273" cy="3216273"/>
          </a:xfrm>
          <a:custGeom>
            <a:avLst/>
            <a:gdLst/>
            <a:ahLst/>
            <a:cxnLst/>
            <a:rect l="l" t="t" r="r" b="b"/>
            <a:pathLst>
              <a:path w="3216273" h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E947BA07-A691-39B7-EB34-C6784D1C79D2}"/>
              </a:ext>
            </a:extLst>
          </p:cNvPr>
          <p:cNvSpPr/>
          <p:nvPr/>
        </p:nvSpPr>
        <p:spPr>
          <a:xfrm>
            <a:off x="16986566" y="7117545"/>
            <a:ext cx="1031856" cy="1031856"/>
          </a:xfrm>
          <a:custGeom>
            <a:avLst/>
            <a:gdLst/>
            <a:ahLst/>
            <a:cxnLst/>
            <a:rect l="l" t="t" r="r" b="b"/>
            <a:pathLst>
              <a:path w="1031856" h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FA6F1D96-DA70-A0BA-1EA9-B2A848E61DD2}"/>
              </a:ext>
            </a:extLst>
          </p:cNvPr>
          <p:cNvSpPr/>
          <p:nvPr/>
        </p:nvSpPr>
        <p:spPr>
          <a:xfrm>
            <a:off x="2284594" y="-1726493"/>
            <a:ext cx="2664744" cy="2664744"/>
          </a:xfrm>
          <a:custGeom>
            <a:avLst/>
            <a:gdLst/>
            <a:ahLst/>
            <a:cxnLst/>
            <a:rect l="l" t="t" r="r" b="b"/>
            <a:pathLst>
              <a:path w="2664744" h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E8809246-D483-310F-639E-5ABDC8E58746}"/>
              </a:ext>
            </a:extLst>
          </p:cNvPr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241A3D2-3E4A-7A60-1252-FA7896B0B192}"/>
              </a:ext>
            </a:extLst>
          </p:cNvPr>
          <p:cNvSpPr txBox="1"/>
          <p:nvPr/>
        </p:nvSpPr>
        <p:spPr>
          <a:xfrm>
            <a:off x="5842716" y="2122828"/>
            <a:ext cx="6602569" cy="144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47"/>
              </a:lnSpc>
            </a:pPr>
            <a:r>
              <a:rPr lang="en-US" sz="8462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Example 3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CD3AA81-BEFC-24CD-C961-8BB72171521C}"/>
              </a:ext>
            </a:extLst>
          </p:cNvPr>
          <p:cNvSpPr txBox="1"/>
          <p:nvPr/>
        </p:nvSpPr>
        <p:spPr>
          <a:xfrm>
            <a:off x="787799" y="3940400"/>
            <a:ext cx="2993589" cy="1333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3104" lvl="1" algn="l">
              <a:lnSpc>
                <a:spcPts val="5227"/>
              </a:lnSpc>
            </a:pP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S </a:t>
            </a: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 </a:t>
            </a:r>
            <a:r>
              <a:rPr lang="en-US" sz="3734" b="1" dirty="0" err="1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aTb</a:t>
            </a: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 | b</a:t>
            </a:r>
          </a:p>
          <a:p>
            <a:pPr marL="403104" lvl="1" algn="l">
              <a:lnSpc>
                <a:spcPts val="5227"/>
              </a:lnSpc>
            </a:pP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T  Tb | </a:t>
            </a:r>
            <a:r>
              <a:rPr lang="el-GR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ε</a:t>
            </a:r>
            <a:endParaRPr lang="en-US" sz="3734" b="1" dirty="0">
              <a:solidFill>
                <a:srgbClr val="5E376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sario"/>
              <a:sym typeface="Rosario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AFC6FC7B-657E-837B-9D35-D93B72755515}"/>
              </a:ext>
            </a:extLst>
          </p:cNvPr>
          <p:cNvSpPr/>
          <p:nvPr/>
        </p:nvSpPr>
        <p:spPr>
          <a:xfrm>
            <a:off x="677958" y="136301"/>
            <a:ext cx="2608154" cy="2608154"/>
          </a:xfrm>
          <a:custGeom>
            <a:avLst/>
            <a:gdLst/>
            <a:ahLst/>
            <a:cxnLst/>
            <a:rect l="l" t="t" r="r" b="b"/>
            <a:pathLst>
              <a:path w="2608154" h="2608154">
                <a:moveTo>
                  <a:pt x="0" y="0"/>
                </a:moveTo>
                <a:lnTo>
                  <a:pt x="2608154" y="0"/>
                </a:lnTo>
                <a:lnTo>
                  <a:pt x="2608154" y="2608154"/>
                </a:lnTo>
                <a:lnTo>
                  <a:pt x="0" y="26081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B1BE61-CF74-1FFC-D1C7-740C71D2E38D}"/>
              </a:ext>
            </a:extLst>
          </p:cNvPr>
          <p:cNvSpPr/>
          <p:nvPr/>
        </p:nvSpPr>
        <p:spPr>
          <a:xfrm>
            <a:off x="1938953" y="63627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1</a:t>
            </a:r>
            <a:endParaRPr lang="en-AE" sz="2800" b="1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3AE2A6-6E7D-E457-ADBF-C2A0FC19C2CA}"/>
              </a:ext>
            </a:extLst>
          </p:cNvPr>
          <p:cNvCxnSpPr>
            <a:cxnSpLocks/>
            <a:endCxn id="29" idx="2"/>
          </p:cNvCxnSpPr>
          <p:nvPr/>
        </p:nvCxnSpPr>
        <p:spPr>
          <a:xfrm>
            <a:off x="1325489" y="6819900"/>
            <a:ext cx="61346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76700A9-E08F-2352-563E-B539CAC4376B}"/>
              </a:ext>
            </a:extLst>
          </p:cNvPr>
          <p:cNvSpPr txBox="1"/>
          <p:nvPr/>
        </p:nvSpPr>
        <p:spPr>
          <a:xfrm>
            <a:off x="5704050" y="3583621"/>
            <a:ext cx="11282516" cy="1188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400" dirty="0">
                <a:solidFill>
                  <a:srgbClr val="5E376D"/>
                </a:solidFill>
                <a:highlight>
                  <a:srgbClr val="FFFF00"/>
                </a:highlight>
                <a:latin typeface="Rosario"/>
                <a:ea typeface="Rosario"/>
                <a:cs typeface="Rosario"/>
                <a:sym typeface="Rosario"/>
              </a:rPr>
              <a:t>Push Start Symbol to stack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E0FB0AE-CD82-E3DC-69AF-88F46746626C}"/>
              </a:ext>
            </a:extLst>
          </p:cNvPr>
          <p:cNvSpPr/>
          <p:nvPr/>
        </p:nvSpPr>
        <p:spPr>
          <a:xfrm>
            <a:off x="4648200" y="63627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2</a:t>
            </a:r>
            <a:endParaRPr lang="en-AE" sz="2800" b="1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2171B19-732D-BC68-E080-286E7EDE9A97}"/>
              </a:ext>
            </a:extLst>
          </p:cNvPr>
          <p:cNvCxnSpPr>
            <a:cxnSpLocks/>
            <a:stCxn id="29" idx="6"/>
            <a:endCxn id="33" idx="2"/>
          </p:cNvCxnSpPr>
          <p:nvPr/>
        </p:nvCxnSpPr>
        <p:spPr>
          <a:xfrm>
            <a:off x="2853353" y="6819900"/>
            <a:ext cx="179484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DEED943-77A7-ACB0-A929-DEB3BFB9F447}"/>
              </a:ext>
            </a:extLst>
          </p:cNvPr>
          <p:cNvSpPr txBox="1"/>
          <p:nvPr/>
        </p:nvSpPr>
        <p:spPr>
          <a:xfrm>
            <a:off x="2752165" y="6057900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ε </a:t>
            </a:r>
            <a:r>
              <a:rPr lang="en-GB" sz="3600" b="0" dirty="0">
                <a:sym typeface="Wingdings" panose="05000000000000000000" pitchFamily="2" charset="2"/>
              </a:rPr>
              <a:t> $</a:t>
            </a:r>
            <a:endParaRPr lang="en-AE" sz="3600" b="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236A20B-1ED6-A0B9-DF81-2A9743586FA1}"/>
              </a:ext>
            </a:extLst>
          </p:cNvPr>
          <p:cNvSpPr/>
          <p:nvPr/>
        </p:nvSpPr>
        <p:spPr>
          <a:xfrm>
            <a:off x="7391400" y="63627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3</a:t>
            </a:r>
            <a:endParaRPr lang="en-AE" sz="2800" b="1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8E000B9-1CCA-631B-C397-47C418CA4E97}"/>
              </a:ext>
            </a:extLst>
          </p:cNvPr>
          <p:cNvCxnSpPr>
            <a:cxnSpLocks/>
            <a:stCxn id="33" idx="6"/>
            <a:endCxn id="23" idx="2"/>
          </p:cNvCxnSpPr>
          <p:nvPr/>
        </p:nvCxnSpPr>
        <p:spPr>
          <a:xfrm>
            <a:off x="5562600" y="6819900"/>
            <a:ext cx="1828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05001DC-68B9-15C4-3B9F-59202770AC23}"/>
              </a:ext>
            </a:extLst>
          </p:cNvPr>
          <p:cNvSpPr txBox="1"/>
          <p:nvPr/>
        </p:nvSpPr>
        <p:spPr>
          <a:xfrm>
            <a:off x="5410200" y="6057900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ε </a:t>
            </a:r>
            <a:r>
              <a:rPr lang="en-GB" sz="3600" b="0" dirty="0">
                <a:sym typeface="Wingdings" panose="05000000000000000000" pitchFamily="2" charset="2"/>
              </a:rPr>
              <a:t> S</a:t>
            </a:r>
            <a:endParaRPr lang="en-AE" sz="3600" b="0" dirty="0"/>
          </a:p>
        </p:txBody>
      </p:sp>
    </p:spTree>
    <p:extLst>
      <p:ext uri="{BB962C8B-B14F-4D97-AF65-F5344CB8AC3E}">
        <p14:creationId xmlns:p14="http://schemas.microsoft.com/office/powerpoint/2010/main" val="4222892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23" grpId="0" animBg="1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83F787-F02B-F332-7F43-875D2241F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CE8370E-3F35-B49F-4BE4-A5BE938163A9}"/>
              </a:ext>
            </a:extLst>
          </p:cNvPr>
          <p:cNvGrpSpPr/>
          <p:nvPr/>
        </p:nvGrpSpPr>
        <p:grpSpPr>
          <a:xfrm>
            <a:off x="-1945470" y="-2376191"/>
            <a:ext cx="5272633" cy="5272633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1BDF8CF-DA0E-1E51-54FD-88CCBCA5264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E3F70D0-9B36-8861-3C6A-9E6D3E8924B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F977634-751F-50C0-3BE1-E0D770766C0D}"/>
              </a:ext>
            </a:extLst>
          </p:cNvPr>
          <p:cNvGrpSpPr/>
          <p:nvPr/>
        </p:nvGrpSpPr>
        <p:grpSpPr>
          <a:xfrm>
            <a:off x="14914620" y="7117545"/>
            <a:ext cx="5704840" cy="570484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48F08A7-4A5B-88E3-B5CC-69919C64E5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003FFCE-EEEB-8B08-F1D5-D4926072EB5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E3224C4-5EF1-5AD5-B3E3-79B9CA5CFB0D}"/>
              </a:ext>
            </a:extLst>
          </p:cNvPr>
          <p:cNvGrpSpPr/>
          <p:nvPr/>
        </p:nvGrpSpPr>
        <p:grpSpPr>
          <a:xfrm>
            <a:off x="14323752" y="9567782"/>
            <a:ext cx="1839350" cy="183935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B019769-01AC-D46E-A635-6EBE12DB471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AAA9577-3C88-A99B-88D5-BE6ADF33D0F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E562F6E-3FAF-23FE-88C5-4F5092290083}"/>
              </a:ext>
            </a:extLst>
          </p:cNvPr>
          <p:cNvGrpSpPr/>
          <p:nvPr/>
        </p:nvGrpSpPr>
        <p:grpSpPr>
          <a:xfrm>
            <a:off x="-651846" y="2203119"/>
            <a:ext cx="1386647" cy="1386647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1249169-F060-AA0B-27B8-09BC5107F4A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1F927BF-2AB2-1981-302B-C2DFF01C115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EC423F99-822C-0FDA-1D37-07E92848D281}"/>
              </a:ext>
            </a:extLst>
          </p:cNvPr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A6C78ADE-7387-8082-D381-69ADB2F52217}"/>
              </a:ext>
            </a:extLst>
          </p:cNvPr>
          <p:cNvSpPr/>
          <p:nvPr/>
        </p:nvSpPr>
        <p:spPr>
          <a:xfrm>
            <a:off x="-1107912" y="-1038882"/>
            <a:ext cx="2972604" cy="2972604"/>
          </a:xfrm>
          <a:custGeom>
            <a:avLst/>
            <a:gdLst/>
            <a:ahLst/>
            <a:cxnLst/>
            <a:rect l="l" t="t" r="r" b="b"/>
            <a:pathLst>
              <a:path w="2972604" h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184A9175-3C44-0F1A-D5AC-2D7324C67B4D}"/>
              </a:ext>
            </a:extLst>
          </p:cNvPr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82F06428-EBBD-3026-C490-E433D38D1D79}"/>
              </a:ext>
            </a:extLst>
          </p:cNvPr>
          <p:cNvSpPr/>
          <p:nvPr/>
        </p:nvSpPr>
        <p:spPr>
          <a:xfrm>
            <a:off x="16637449" y="8575609"/>
            <a:ext cx="3216273" cy="3216273"/>
          </a:xfrm>
          <a:custGeom>
            <a:avLst/>
            <a:gdLst/>
            <a:ahLst/>
            <a:cxnLst/>
            <a:rect l="l" t="t" r="r" b="b"/>
            <a:pathLst>
              <a:path w="3216273" h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80046742-107D-1F92-A366-5AC158479C43}"/>
              </a:ext>
            </a:extLst>
          </p:cNvPr>
          <p:cNvSpPr/>
          <p:nvPr/>
        </p:nvSpPr>
        <p:spPr>
          <a:xfrm>
            <a:off x="16986566" y="7117545"/>
            <a:ext cx="1031856" cy="1031856"/>
          </a:xfrm>
          <a:custGeom>
            <a:avLst/>
            <a:gdLst/>
            <a:ahLst/>
            <a:cxnLst/>
            <a:rect l="l" t="t" r="r" b="b"/>
            <a:pathLst>
              <a:path w="1031856" h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480A494D-7A4E-3ED9-117F-C43051E4BAD5}"/>
              </a:ext>
            </a:extLst>
          </p:cNvPr>
          <p:cNvSpPr/>
          <p:nvPr/>
        </p:nvSpPr>
        <p:spPr>
          <a:xfrm>
            <a:off x="2284594" y="-1726493"/>
            <a:ext cx="2664744" cy="2664744"/>
          </a:xfrm>
          <a:custGeom>
            <a:avLst/>
            <a:gdLst/>
            <a:ahLst/>
            <a:cxnLst/>
            <a:rect l="l" t="t" r="r" b="b"/>
            <a:pathLst>
              <a:path w="2664744" h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BAD3822A-60E9-B159-4443-4EDA6B9190CA}"/>
              </a:ext>
            </a:extLst>
          </p:cNvPr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E1B3A7E-30FA-CAB7-D980-5C1E47C2434F}"/>
              </a:ext>
            </a:extLst>
          </p:cNvPr>
          <p:cNvSpPr txBox="1"/>
          <p:nvPr/>
        </p:nvSpPr>
        <p:spPr>
          <a:xfrm>
            <a:off x="5842716" y="2122828"/>
            <a:ext cx="6602569" cy="144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47"/>
              </a:lnSpc>
            </a:pPr>
            <a:r>
              <a:rPr lang="en-US" sz="8462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Example 3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9D15A89-DBC0-B3C8-78CD-A54163B5BDE0}"/>
              </a:ext>
            </a:extLst>
          </p:cNvPr>
          <p:cNvSpPr txBox="1"/>
          <p:nvPr/>
        </p:nvSpPr>
        <p:spPr>
          <a:xfrm>
            <a:off x="787799" y="3940400"/>
            <a:ext cx="2993589" cy="1333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3104" lvl="1" algn="l">
              <a:lnSpc>
                <a:spcPts val="5227"/>
              </a:lnSpc>
            </a:pP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S </a:t>
            </a: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 </a:t>
            </a:r>
            <a:r>
              <a:rPr lang="en-US" sz="3734" b="1" dirty="0" err="1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aTb</a:t>
            </a: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 | b</a:t>
            </a:r>
          </a:p>
          <a:p>
            <a:pPr marL="403104" lvl="1" algn="l">
              <a:lnSpc>
                <a:spcPts val="5227"/>
              </a:lnSpc>
            </a:pP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T  Tb | </a:t>
            </a:r>
            <a:r>
              <a:rPr lang="el-GR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ε</a:t>
            </a:r>
            <a:endParaRPr lang="en-US" sz="3734" b="1" dirty="0">
              <a:solidFill>
                <a:srgbClr val="5E376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sario"/>
              <a:sym typeface="Rosario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93311FB-EDD1-137B-6D97-150F6BF288AD}"/>
              </a:ext>
            </a:extLst>
          </p:cNvPr>
          <p:cNvSpPr/>
          <p:nvPr/>
        </p:nvSpPr>
        <p:spPr>
          <a:xfrm>
            <a:off x="677958" y="136301"/>
            <a:ext cx="2608154" cy="2608154"/>
          </a:xfrm>
          <a:custGeom>
            <a:avLst/>
            <a:gdLst/>
            <a:ahLst/>
            <a:cxnLst/>
            <a:rect l="l" t="t" r="r" b="b"/>
            <a:pathLst>
              <a:path w="2608154" h="2608154">
                <a:moveTo>
                  <a:pt x="0" y="0"/>
                </a:moveTo>
                <a:lnTo>
                  <a:pt x="2608154" y="0"/>
                </a:lnTo>
                <a:lnTo>
                  <a:pt x="2608154" y="2608154"/>
                </a:lnTo>
                <a:lnTo>
                  <a:pt x="0" y="26081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FA8DD8E-CDE9-A107-FD09-5E367CB7F035}"/>
              </a:ext>
            </a:extLst>
          </p:cNvPr>
          <p:cNvSpPr/>
          <p:nvPr/>
        </p:nvSpPr>
        <p:spPr>
          <a:xfrm>
            <a:off x="1938953" y="63627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1</a:t>
            </a:r>
            <a:endParaRPr lang="en-AE" sz="2800" b="1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6BD2A62-7F62-2206-D8A3-0A7DE8C79DFF}"/>
              </a:ext>
            </a:extLst>
          </p:cNvPr>
          <p:cNvCxnSpPr>
            <a:cxnSpLocks/>
            <a:endCxn id="29" idx="2"/>
          </p:cNvCxnSpPr>
          <p:nvPr/>
        </p:nvCxnSpPr>
        <p:spPr>
          <a:xfrm>
            <a:off x="1325489" y="6819900"/>
            <a:ext cx="61346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5197DD1-5373-9079-312C-DD0B368AB634}"/>
              </a:ext>
            </a:extLst>
          </p:cNvPr>
          <p:cNvSpPr txBox="1"/>
          <p:nvPr/>
        </p:nvSpPr>
        <p:spPr>
          <a:xfrm>
            <a:off x="5704050" y="3583621"/>
            <a:ext cx="11282516" cy="1188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400" dirty="0">
                <a:solidFill>
                  <a:srgbClr val="5E376D"/>
                </a:solidFill>
                <a:highlight>
                  <a:srgbClr val="FFFF00"/>
                </a:highlight>
                <a:latin typeface="Rosario"/>
                <a:ea typeface="Rosario"/>
                <a:cs typeface="Rosario"/>
                <a:sym typeface="Rosario"/>
              </a:rPr>
              <a:t>Pop/Push Variables in the main loop</a:t>
            </a:r>
            <a:endParaRPr lang="en-US" sz="5400" dirty="0">
              <a:solidFill>
                <a:srgbClr val="5E376D"/>
              </a:solidFill>
              <a:highlight>
                <a:srgbClr val="FFFF00"/>
              </a:highlight>
              <a:latin typeface="Rosario"/>
              <a:ea typeface="Rosario"/>
              <a:cs typeface="Rosario"/>
              <a:sym typeface="Rosario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B3C52CE-84D4-66B0-980B-E9A492430D07}"/>
              </a:ext>
            </a:extLst>
          </p:cNvPr>
          <p:cNvSpPr/>
          <p:nvPr/>
        </p:nvSpPr>
        <p:spPr>
          <a:xfrm>
            <a:off x="4648200" y="63627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2</a:t>
            </a:r>
            <a:endParaRPr lang="en-AE" sz="2800" b="1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FE9E8E2-9006-C906-1D5F-38D160CA834C}"/>
              </a:ext>
            </a:extLst>
          </p:cNvPr>
          <p:cNvCxnSpPr>
            <a:cxnSpLocks/>
            <a:stCxn id="29" idx="6"/>
            <a:endCxn id="33" idx="2"/>
          </p:cNvCxnSpPr>
          <p:nvPr/>
        </p:nvCxnSpPr>
        <p:spPr>
          <a:xfrm>
            <a:off x="2853353" y="6819900"/>
            <a:ext cx="179484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F383DC7-9615-442A-F7FC-9C550DD49243}"/>
              </a:ext>
            </a:extLst>
          </p:cNvPr>
          <p:cNvSpPr txBox="1"/>
          <p:nvPr/>
        </p:nvSpPr>
        <p:spPr>
          <a:xfrm>
            <a:off x="2752165" y="6057900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ε </a:t>
            </a:r>
            <a:r>
              <a:rPr lang="en-GB" sz="3600" b="0" dirty="0">
                <a:sym typeface="Wingdings" panose="05000000000000000000" pitchFamily="2" charset="2"/>
              </a:rPr>
              <a:t> $</a:t>
            </a:r>
            <a:endParaRPr lang="en-AE" sz="3600" b="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63D62AF-4B00-79DE-0C54-2F69F1A7E82C}"/>
              </a:ext>
            </a:extLst>
          </p:cNvPr>
          <p:cNvSpPr/>
          <p:nvPr/>
        </p:nvSpPr>
        <p:spPr>
          <a:xfrm>
            <a:off x="7391400" y="63627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3</a:t>
            </a:r>
            <a:endParaRPr lang="en-AE" sz="2800" b="1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02A8558-CE84-BF53-8CA5-963EB03B6F1E}"/>
              </a:ext>
            </a:extLst>
          </p:cNvPr>
          <p:cNvCxnSpPr>
            <a:cxnSpLocks/>
            <a:stCxn id="33" idx="6"/>
            <a:endCxn id="23" idx="2"/>
          </p:cNvCxnSpPr>
          <p:nvPr/>
        </p:nvCxnSpPr>
        <p:spPr>
          <a:xfrm>
            <a:off x="5562600" y="6819900"/>
            <a:ext cx="1828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212E90B-E164-5DD5-7A52-49D6585A7BFF}"/>
              </a:ext>
            </a:extLst>
          </p:cNvPr>
          <p:cNvSpPr txBox="1"/>
          <p:nvPr/>
        </p:nvSpPr>
        <p:spPr>
          <a:xfrm>
            <a:off x="5410200" y="6057900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ε </a:t>
            </a:r>
            <a:r>
              <a:rPr lang="en-GB" sz="3600" b="0" dirty="0">
                <a:sym typeface="Wingdings" panose="05000000000000000000" pitchFamily="2" charset="2"/>
              </a:rPr>
              <a:t> S</a:t>
            </a:r>
            <a:endParaRPr lang="en-AE" sz="3600" b="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0D2F84D-FB7C-6525-EC0C-4050F04B2E29}"/>
              </a:ext>
            </a:extLst>
          </p:cNvPr>
          <p:cNvCxnSpPr>
            <a:cxnSpLocks/>
            <a:stCxn id="23" idx="0"/>
            <a:endCxn id="39" idx="2"/>
          </p:cNvCxnSpPr>
          <p:nvPr/>
        </p:nvCxnSpPr>
        <p:spPr>
          <a:xfrm flipV="1">
            <a:off x="7848600" y="5372100"/>
            <a:ext cx="2438400" cy="9906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60A32C0-75F4-6A03-3565-C7C1F910836A}"/>
              </a:ext>
            </a:extLst>
          </p:cNvPr>
          <p:cNvSpPr txBox="1"/>
          <p:nvPr/>
        </p:nvSpPr>
        <p:spPr>
          <a:xfrm rot="20274062">
            <a:off x="7764520" y="5132971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S </a:t>
            </a:r>
            <a:r>
              <a:rPr lang="en-GB" sz="3600" b="0" dirty="0">
                <a:sym typeface="Wingdings" panose="05000000000000000000" pitchFamily="2" charset="2"/>
              </a:rPr>
              <a:t> b</a:t>
            </a:r>
            <a:endParaRPr lang="en-AE" sz="3600" b="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B6C4EFC-E15F-565A-2F98-1DD9DAE4A5A8}"/>
              </a:ext>
            </a:extLst>
          </p:cNvPr>
          <p:cNvSpPr/>
          <p:nvPr/>
        </p:nvSpPr>
        <p:spPr>
          <a:xfrm>
            <a:off x="10287000" y="49149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4</a:t>
            </a:r>
            <a:endParaRPr lang="en-AE" sz="2800" b="1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5A77B18-06CF-4626-B7EE-41FC2AB292D7}"/>
              </a:ext>
            </a:extLst>
          </p:cNvPr>
          <p:cNvSpPr/>
          <p:nvPr/>
        </p:nvSpPr>
        <p:spPr>
          <a:xfrm>
            <a:off x="14249400" y="49149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5</a:t>
            </a:r>
            <a:endParaRPr lang="en-AE" sz="2800" b="1" dirty="0">
              <a:solidFill>
                <a:schemeClr val="tx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030892F-B1FF-190E-9146-D9EB79A81003}"/>
              </a:ext>
            </a:extLst>
          </p:cNvPr>
          <p:cNvCxnSpPr>
            <a:cxnSpLocks/>
            <a:stCxn id="39" idx="6"/>
            <a:endCxn id="42" idx="2"/>
          </p:cNvCxnSpPr>
          <p:nvPr/>
        </p:nvCxnSpPr>
        <p:spPr>
          <a:xfrm>
            <a:off x="11201400" y="5372100"/>
            <a:ext cx="3048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7B9A25B-1C2B-6B03-69C3-A981B83DBDC3}"/>
              </a:ext>
            </a:extLst>
          </p:cNvPr>
          <p:cNvSpPr txBox="1"/>
          <p:nvPr/>
        </p:nvSpPr>
        <p:spPr>
          <a:xfrm>
            <a:off x="11743765" y="4610100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ε </a:t>
            </a:r>
            <a:r>
              <a:rPr lang="en-GB" sz="3600" b="0" dirty="0">
                <a:sym typeface="Wingdings" panose="05000000000000000000" pitchFamily="2" charset="2"/>
              </a:rPr>
              <a:t> T</a:t>
            </a:r>
            <a:endParaRPr lang="en-AE" sz="3600" b="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C7CBB2D-12D4-76A6-E208-B2813A9A4221}"/>
              </a:ext>
            </a:extLst>
          </p:cNvPr>
          <p:cNvCxnSpPr>
            <a:cxnSpLocks/>
            <a:stCxn id="42" idx="3"/>
            <a:endCxn id="23" idx="7"/>
          </p:cNvCxnSpPr>
          <p:nvPr/>
        </p:nvCxnSpPr>
        <p:spPr>
          <a:xfrm flipH="1">
            <a:off x="8171889" y="5695389"/>
            <a:ext cx="6211422" cy="801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9DAD9F2-C6A5-E13D-2C74-F37E2E3D97D5}"/>
              </a:ext>
            </a:extLst>
          </p:cNvPr>
          <p:cNvSpPr txBox="1"/>
          <p:nvPr/>
        </p:nvSpPr>
        <p:spPr>
          <a:xfrm rot="21226033">
            <a:off x="9986565" y="5468658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ε </a:t>
            </a:r>
            <a:r>
              <a:rPr lang="en-GB" sz="3600" b="0" dirty="0">
                <a:sym typeface="Wingdings" panose="05000000000000000000" pitchFamily="2" charset="2"/>
              </a:rPr>
              <a:t> a</a:t>
            </a:r>
            <a:endParaRPr lang="en-AE" sz="3600" b="0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CE5E3A2-B0A2-50FA-6F2C-097AC389E6E7}"/>
              </a:ext>
            </a:extLst>
          </p:cNvPr>
          <p:cNvCxnSpPr>
            <a:cxnSpLocks/>
            <a:stCxn id="23" idx="3"/>
            <a:endCxn id="23" idx="4"/>
          </p:cNvCxnSpPr>
          <p:nvPr/>
        </p:nvCxnSpPr>
        <p:spPr>
          <a:xfrm rot="16200000" flipH="1">
            <a:off x="7620000" y="7048499"/>
            <a:ext cx="133911" cy="323289"/>
          </a:xfrm>
          <a:prstGeom prst="curvedConnector3">
            <a:avLst>
              <a:gd name="adj1" fmla="val 446927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8C1B84F-71B1-B288-8747-0E99A6ED8B7A}"/>
              </a:ext>
            </a:extLst>
          </p:cNvPr>
          <p:cNvSpPr txBox="1"/>
          <p:nvPr/>
        </p:nvSpPr>
        <p:spPr>
          <a:xfrm>
            <a:off x="6700837" y="7633473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S </a:t>
            </a:r>
            <a:r>
              <a:rPr lang="en-GB" sz="3600" b="0" dirty="0">
                <a:sym typeface="Wingdings" panose="05000000000000000000" pitchFamily="2" charset="2"/>
              </a:rPr>
              <a:t> b</a:t>
            </a:r>
            <a:endParaRPr lang="en-AE" sz="3600" b="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6980ED2-D90C-26CA-F4CA-013A06D3299A}"/>
              </a:ext>
            </a:extLst>
          </p:cNvPr>
          <p:cNvCxnSpPr>
            <a:cxnSpLocks/>
            <a:stCxn id="23" idx="6"/>
            <a:endCxn id="59" idx="2"/>
          </p:cNvCxnSpPr>
          <p:nvPr/>
        </p:nvCxnSpPr>
        <p:spPr>
          <a:xfrm flipV="1">
            <a:off x="8305800" y="6793299"/>
            <a:ext cx="6172200" cy="266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9CD76B6-1342-CA56-7CF4-2909F3CF5231}"/>
              </a:ext>
            </a:extLst>
          </p:cNvPr>
          <p:cNvSpPr txBox="1"/>
          <p:nvPr/>
        </p:nvSpPr>
        <p:spPr>
          <a:xfrm>
            <a:off x="11353800" y="6107013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T </a:t>
            </a:r>
            <a:r>
              <a:rPr lang="en-GB" sz="3600" b="0" dirty="0">
                <a:sym typeface="Wingdings" panose="05000000000000000000" pitchFamily="2" charset="2"/>
              </a:rPr>
              <a:t> b</a:t>
            </a:r>
            <a:endParaRPr lang="en-AE" sz="3600" b="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0F81D41-CA82-E5ED-F972-5E5BBEC52194}"/>
              </a:ext>
            </a:extLst>
          </p:cNvPr>
          <p:cNvSpPr/>
          <p:nvPr/>
        </p:nvSpPr>
        <p:spPr>
          <a:xfrm>
            <a:off x="14478000" y="6336099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6</a:t>
            </a:r>
            <a:endParaRPr lang="en-AE" sz="2800" b="1" dirty="0">
              <a:solidFill>
                <a:schemeClr val="tx1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1E9EC06-DD0D-B643-6AD2-A19075DDBDC0}"/>
              </a:ext>
            </a:extLst>
          </p:cNvPr>
          <p:cNvCxnSpPr>
            <a:cxnSpLocks/>
            <a:stCxn id="59" idx="3"/>
            <a:endCxn id="23" idx="5"/>
          </p:cNvCxnSpPr>
          <p:nvPr/>
        </p:nvCxnSpPr>
        <p:spPr>
          <a:xfrm flipH="1">
            <a:off x="8171889" y="7116588"/>
            <a:ext cx="6440022" cy="266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D0D0F693-E785-1998-3775-E2A9539EC1C7}"/>
              </a:ext>
            </a:extLst>
          </p:cNvPr>
          <p:cNvSpPr txBox="1"/>
          <p:nvPr/>
        </p:nvSpPr>
        <p:spPr>
          <a:xfrm>
            <a:off x="11260418" y="6945213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ε </a:t>
            </a:r>
            <a:r>
              <a:rPr lang="en-GB" sz="3600" b="0" dirty="0">
                <a:sym typeface="Wingdings" panose="05000000000000000000" pitchFamily="2" charset="2"/>
              </a:rPr>
              <a:t> T</a:t>
            </a:r>
            <a:endParaRPr lang="en-AE" sz="3600" b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F3FC05-115C-52D0-1EF5-D1D444DC240B}"/>
              </a:ext>
            </a:extLst>
          </p:cNvPr>
          <p:cNvSpPr txBox="1"/>
          <p:nvPr/>
        </p:nvSpPr>
        <p:spPr>
          <a:xfrm>
            <a:off x="6705600" y="8240613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T </a:t>
            </a:r>
            <a:r>
              <a:rPr lang="en-GB" sz="3600" b="0" dirty="0">
                <a:sym typeface="Wingdings" panose="05000000000000000000" pitchFamily="2" charset="2"/>
              </a:rPr>
              <a:t> </a:t>
            </a:r>
            <a:r>
              <a:rPr lang="en-GB" sz="3600" b="0" dirty="0"/>
              <a:t>ε</a:t>
            </a:r>
            <a:endParaRPr lang="en-AE" sz="3600" b="0" dirty="0"/>
          </a:p>
        </p:txBody>
      </p:sp>
    </p:spTree>
    <p:extLst>
      <p:ext uri="{BB962C8B-B14F-4D97-AF65-F5344CB8AC3E}">
        <p14:creationId xmlns:p14="http://schemas.microsoft.com/office/powerpoint/2010/main" val="104511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27" grpId="0"/>
      <p:bldP spid="39" grpId="0" animBg="1"/>
      <p:bldP spid="42" grpId="0" animBg="1"/>
      <p:bldP spid="44" grpId="0"/>
      <p:bldP spid="50" grpId="0"/>
      <p:bldP spid="56" grpId="0"/>
      <p:bldP spid="58" grpId="0"/>
      <p:bldP spid="59" grpId="0" animBg="1"/>
      <p:bldP spid="61" grpId="0"/>
      <p:bldP spid="6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0A81E-315D-5544-C1B3-742BCB8D7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733C047-41DD-BDB5-1F6B-BE82C69EBADB}"/>
              </a:ext>
            </a:extLst>
          </p:cNvPr>
          <p:cNvGrpSpPr/>
          <p:nvPr/>
        </p:nvGrpSpPr>
        <p:grpSpPr>
          <a:xfrm>
            <a:off x="-1945470" y="-2376191"/>
            <a:ext cx="5272633" cy="5272633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2B63475-F9C7-62FA-911E-A64886A8C8E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E2CA261-FF47-40C8-65E2-9DD79AA8E9C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D60053D-5B21-5658-AE30-9537757FD19D}"/>
              </a:ext>
            </a:extLst>
          </p:cNvPr>
          <p:cNvGrpSpPr/>
          <p:nvPr/>
        </p:nvGrpSpPr>
        <p:grpSpPr>
          <a:xfrm>
            <a:off x="14914620" y="7117545"/>
            <a:ext cx="5704840" cy="570484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714C6E4-D566-3840-3448-947DE40BFF0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11ED00F-0F45-2254-C9D6-4123AE0AE19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84E4B0E-412E-2250-3935-B449DCE4AAD4}"/>
              </a:ext>
            </a:extLst>
          </p:cNvPr>
          <p:cNvGrpSpPr/>
          <p:nvPr/>
        </p:nvGrpSpPr>
        <p:grpSpPr>
          <a:xfrm>
            <a:off x="14323752" y="9567782"/>
            <a:ext cx="1839350" cy="183935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2B435EC-0D92-11F1-52E5-F1583153571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5CF8987-8B17-9743-417C-CE1AF5FE105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1C874F3-EFB0-D4E7-32F3-49F6716C90FF}"/>
              </a:ext>
            </a:extLst>
          </p:cNvPr>
          <p:cNvGrpSpPr/>
          <p:nvPr/>
        </p:nvGrpSpPr>
        <p:grpSpPr>
          <a:xfrm>
            <a:off x="-651846" y="2203119"/>
            <a:ext cx="1386647" cy="1386647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AA6D124-A711-32B0-2A87-876EE2014FD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14AD37F-1337-0D79-3B4F-F88495FE7C8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7D051E32-C1EF-459E-2AEF-4DE0453AFFF1}"/>
              </a:ext>
            </a:extLst>
          </p:cNvPr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8D67BFA8-DACB-B076-F9C7-719597BED7E1}"/>
              </a:ext>
            </a:extLst>
          </p:cNvPr>
          <p:cNvSpPr/>
          <p:nvPr/>
        </p:nvSpPr>
        <p:spPr>
          <a:xfrm>
            <a:off x="-1107912" y="-1038882"/>
            <a:ext cx="2972604" cy="2972604"/>
          </a:xfrm>
          <a:custGeom>
            <a:avLst/>
            <a:gdLst/>
            <a:ahLst/>
            <a:cxnLst/>
            <a:rect l="l" t="t" r="r" b="b"/>
            <a:pathLst>
              <a:path w="2972604" h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0527A6A9-C9E2-6EAA-0885-870F75EB4547}"/>
              </a:ext>
            </a:extLst>
          </p:cNvPr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BF85F33D-6215-6F7C-4850-C65AE3C7B964}"/>
              </a:ext>
            </a:extLst>
          </p:cNvPr>
          <p:cNvSpPr/>
          <p:nvPr/>
        </p:nvSpPr>
        <p:spPr>
          <a:xfrm>
            <a:off x="16637449" y="8575609"/>
            <a:ext cx="3216273" cy="3216273"/>
          </a:xfrm>
          <a:custGeom>
            <a:avLst/>
            <a:gdLst/>
            <a:ahLst/>
            <a:cxnLst/>
            <a:rect l="l" t="t" r="r" b="b"/>
            <a:pathLst>
              <a:path w="3216273" h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7866DCB0-B1CF-B2AE-6942-766FF2047C76}"/>
              </a:ext>
            </a:extLst>
          </p:cNvPr>
          <p:cNvSpPr/>
          <p:nvPr/>
        </p:nvSpPr>
        <p:spPr>
          <a:xfrm>
            <a:off x="16986566" y="7117545"/>
            <a:ext cx="1031856" cy="1031856"/>
          </a:xfrm>
          <a:custGeom>
            <a:avLst/>
            <a:gdLst/>
            <a:ahLst/>
            <a:cxnLst/>
            <a:rect l="l" t="t" r="r" b="b"/>
            <a:pathLst>
              <a:path w="1031856" h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9689134F-03A7-C140-4D50-EA54527A1DDB}"/>
              </a:ext>
            </a:extLst>
          </p:cNvPr>
          <p:cNvSpPr/>
          <p:nvPr/>
        </p:nvSpPr>
        <p:spPr>
          <a:xfrm>
            <a:off x="2284594" y="-1726493"/>
            <a:ext cx="2664744" cy="2664744"/>
          </a:xfrm>
          <a:custGeom>
            <a:avLst/>
            <a:gdLst/>
            <a:ahLst/>
            <a:cxnLst/>
            <a:rect l="l" t="t" r="r" b="b"/>
            <a:pathLst>
              <a:path w="2664744" h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A947DB86-4F8F-75FD-94AF-9586166873BE}"/>
              </a:ext>
            </a:extLst>
          </p:cNvPr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36F2810-C0C7-D424-2D93-5CDD3C3CA0B8}"/>
              </a:ext>
            </a:extLst>
          </p:cNvPr>
          <p:cNvSpPr txBox="1"/>
          <p:nvPr/>
        </p:nvSpPr>
        <p:spPr>
          <a:xfrm>
            <a:off x="5842716" y="2122828"/>
            <a:ext cx="6602569" cy="144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47"/>
              </a:lnSpc>
            </a:pPr>
            <a:r>
              <a:rPr lang="en-US" sz="8462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Example 3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49CBAFC-B9A1-1206-B48F-177AF9D7AD0F}"/>
              </a:ext>
            </a:extLst>
          </p:cNvPr>
          <p:cNvSpPr txBox="1"/>
          <p:nvPr/>
        </p:nvSpPr>
        <p:spPr>
          <a:xfrm>
            <a:off x="787799" y="3940400"/>
            <a:ext cx="2993589" cy="1333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3104" lvl="1" algn="l">
              <a:lnSpc>
                <a:spcPts val="5227"/>
              </a:lnSpc>
            </a:pP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S </a:t>
            </a: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 </a:t>
            </a:r>
            <a:r>
              <a:rPr lang="en-US" sz="3734" b="1" dirty="0" err="1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aTb</a:t>
            </a: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 | b</a:t>
            </a:r>
          </a:p>
          <a:p>
            <a:pPr marL="403104" lvl="1" algn="l">
              <a:lnSpc>
                <a:spcPts val="5227"/>
              </a:lnSpc>
            </a:pP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T  Tb | </a:t>
            </a:r>
            <a:r>
              <a:rPr lang="el-GR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ε</a:t>
            </a:r>
            <a:endParaRPr lang="en-US" sz="3734" b="1" dirty="0">
              <a:solidFill>
                <a:srgbClr val="5E376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sario"/>
              <a:sym typeface="Rosario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6DC87B17-569E-FF82-7FAE-1CF4E91B95EB}"/>
              </a:ext>
            </a:extLst>
          </p:cNvPr>
          <p:cNvSpPr/>
          <p:nvPr/>
        </p:nvSpPr>
        <p:spPr>
          <a:xfrm>
            <a:off x="677958" y="136301"/>
            <a:ext cx="2608154" cy="2608154"/>
          </a:xfrm>
          <a:custGeom>
            <a:avLst/>
            <a:gdLst/>
            <a:ahLst/>
            <a:cxnLst/>
            <a:rect l="l" t="t" r="r" b="b"/>
            <a:pathLst>
              <a:path w="2608154" h="2608154">
                <a:moveTo>
                  <a:pt x="0" y="0"/>
                </a:moveTo>
                <a:lnTo>
                  <a:pt x="2608154" y="0"/>
                </a:lnTo>
                <a:lnTo>
                  <a:pt x="2608154" y="2608154"/>
                </a:lnTo>
                <a:lnTo>
                  <a:pt x="0" y="26081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F4E4291-641B-A0E1-1A42-E1CB9F1AC696}"/>
              </a:ext>
            </a:extLst>
          </p:cNvPr>
          <p:cNvSpPr/>
          <p:nvPr/>
        </p:nvSpPr>
        <p:spPr>
          <a:xfrm>
            <a:off x="1938953" y="63627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1</a:t>
            </a:r>
            <a:endParaRPr lang="en-AE" sz="2800" b="1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F98DC8B-EF66-D5CF-5B14-32914CC6AF55}"/>
              </a:ext>
            </a:extLst>
          </p:cNvPr>
          <p:cNvCxnSpPr>
            <a:cxnSpLocks/>
            <a:endCxn id="29" idx="2"/>
          </p:cNvCxnSpPr>
          <p:nvPr/>
        </p:nvCxnSpPr>
        <p:spPr>
          <a:xfrm>
            <a:off x="1325489" y="6819900"/>
            <a:ext cx="61346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4ECEFCB-9E5E-BFDD-7BA6-AA3F11031CFF}"/>
              </a:ext>
            </a:extLst>
          </p:cNvPr>
          <p:cNvSpPr txBox="1"/>
          <p:nvPr/>
        </p:nvSpPr>
        <p:spPr>
          <a:xfrm>
            <a:off x="5704050" y="3583621"/>
            <a:ext cx="11282516" cy="1188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400" dirty="0">
                <a:solidFill>
                  <a:srgbClr val="5E376D"/>
                </a:solidFill>
                <a:highlight>
                  <a:srgbClr val="FFFF00"/>
                </a:highlight>
                <a:latin typeface="Rosario"/>
                <a:ea typeface="Rosario"/>
                <a:cs typeface="Rosario"/>
                <a:sym typeface="Rosario"/>
              </a:rPr>
              <a:t>Pop/Push Terminals in the main loop</a:t>
            </a:r>
            <a:endParaRPr lang="en-US" sz="5400" dirty="0">
              <a:solidFill>
                <a:srgbClr val="5E376D"/>
              </a:solidFill>
              <a:highlight>
                <a:srgbClr val="FFFF00"/>
              </a:highlight>
              <a:latin typeface="Rosario"/>
              <a:ea typeface="Rosario"/>
              <a:cs typeface="Rosario"/>
              <a:sym typeface="Rosario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D7F1607-12AE-D3AD-7112-DC287074C709}"/>
              </a:ext>
            </a:extLst>
          </p:cNvPr>
          <p:cNvSpPr/>
          <p:nvPr/>
        </p:nvSpPr>
        <p:spPr>
          <a:xfrm>
            <a:off x="4648200" y="63627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2</a:t>
            </a:r>
            <a:endParaRPr lang="en-AE" sz="2800" b="1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4927589-7448-A67C-BFDF-024F44B44D83}"/>
              </a:ext>
            </a:extLst>
          </p:cNvPr>
          <p:cNvCxnSpPr>
            <a:cxnSpLocks/>
            <a:stCxn id="29" idx="6"/>
            <a:endCxn id="33" idx="2"/>
          </p:cNvCxnSpPr>
          <p:nvPr/>
        </p:nvCxnSpPr>
        <p:spPr>
          <a:xfrm>
            <a:off x="2853353" y="6819900"/>
            <a:ext cx="179484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CC07E50-FC82-0026-A8BD-BA9DD1FBD74D}"/>
              </a:ext>
            </a:extLst>
          </p:cNvPr>
          <p:cNvSpPr txBox="1"/>
          <p:nvPr/>
        </p:nvSpPr>
        <p:spPr>
          <a:xfrm>
            <a:off x="2752165" y="6057900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ε </a:t>
            </a:r>
            <a:r>
              <a:rPr lang="en-GB" sz="3600" b="0" dirty="0">
                <a:sym typeface="Wingdings" panose="05000000000000000000" pitchFamily="2" charset="2"/>
              </a:rPr>
              <a:t> $</a:t>
            </a:r>
            <a:endParaRPr lang="en-AE" sz="3600" b="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CFD20AE-A5F9-A007-C6C7-61F5B711A69E}"/>
              </a:ext>
            </a:extLst>
          </p:cNvPr>
          <p:cNvSpPr/>
          <p:nvPr/>
        </p:nvSpPr>
        <p:spPr>
          <a:xfrm>
            <a:off x="7391400" y="63627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3</a:t>
            </a:r>
            <a:endParaRPr lang="en-AE" sz="2800" b="1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B08268E-C245-7388-67ED-21D13F78A17B}"/>
              </a:ext>
            </a:extLst>
          </p:cNvPr>
          <p:cNvCxnSpPr>
            <a:cxnSpLocks/>
            <a:stCxn id="33" idx="6"/>
            <a:endCxn id="23" idx="2"/>
          </p:cNvCxnSpPr>
          <p:nvPr/>
        </p:nvCxnSpPr>
        <p:spPr>
          <a:xfrm>
            <a:off x="5562600" y="6819900"/>
            <a:ext cx="1828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CF2E686-5B3C-88C4-B4C8-B66DF3B3A86A}"/>
              </a:ext>
            </a:extLst>
          </p:cNvPr>
          <p:cNvSpPr txBox="1"/>
          <p:nvPr/>
        </p:nvSpPr>
        <p:spPr>
          <a:xfrm>
            <a:off x="5410200" y="6057900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ε </a:t>
            </a:r>
            <a:r>
              <a:rPr lang="en-GB" sz="3600" b="0" dirty="0">
                <a:sym typeface="Wingdings" panose="05000000000000000000" pitchFamily="2" charset="2"/>
              </a:rPr>
              <a:t> S</a:t>
            </a:r>
            <a:endParaRPr lang="en-AE" sz="3600" b="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BE9CA5-628D-0C28-E851-E035A14160D0}"/>
              </a:ext>
            </a:extLst>
          </p:cNvPr>
          <p:cNvCxnSpPr>
            <a:cxnSpLocks/>
            <a:stCxn id="23" idx="0"/>
            <a:endCxn id="39" idx="2"/>
          </p:cNvCxnSpPr>
          <p:nvPr/>
        </p:nvCxnSpPr>
        <p:spPr>
          <a:xfrm flipV="1">
            <a:off x="7848600" y="5372100"/>
            <a:ext cx="2438400" cy="9906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C668AEE-E15E-E27C-0E58-0C82475EFF7A}"/>
              </a:ext>
            </a:extLst>
          </p:cNvPr>
          <p:cNvSpPr txBox="1"/>
          <p:nvPr/>
        </p:nvSpPr>
        <p:spPr>
          <a:xfrm rot="20274062">
            <a:off x="7764520" y="5132971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S </a:t>
            </a:r>
            <a:r>
              <a:rPr lang="en-GB" sz="3600" b="0" dirty="0">
                <a:sym typeface="Wingdings" panose="05000000000000000000" pitchFamily="2" charset="2"/>
              </a:rPr>
              <a:t> b</a:t>
            </a:r>
            <a:endParaRPr lang="en-AE" sz="3600" b="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6A39A21-C53E-BE94-06D8-1A325B953EC9}"/>
              </a:ext>
            </a:extLst>
          </p:cNvPr>
          <p:cNvSpPr/>
          <p:nvPr/>
        </p:nvSpPr>
        <p:spPr>
          <a:xfrm>
            <a:off x="10287000" y="49149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4</a:t>
            </a:r>
            <a:endParaRPr lang="en-AE" sz="2800" b="1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F7E502F-E734-915C-876E-D47C56E47EC7}"/>
              </a:ext>
            </a:extLst>
          </p:cNvPr>
          <p:cNvSpPr/>
          <p:nvPr/>
        </p:nvSpPr>
        <p:spPr>
          <a:xfrm>
            <a:off x="14249400" y="49149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5</a:t>
            </a:r>
            <a:endParaRPr lang="en-AE" sz="2800" b="1" dirty="0">
              <a:solidFill>
                <a:schemeClr val="tx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A6EF97E-A822-D7A8-149A-BCB30E611BA6}"/>
              </a:ext>
            </a:extLst>
          </p:cNvPr>
          <p:cNvCxnSpPr>
            <a:cxnSpLocks/>
            <a:stCxn id="39" idx="6"/>
            <a:endCxn id="42" idx="2"/>
          </p:cNvCxnSpPr>
          <p:nvPr/>
        </p:nvCxnSpPr>
        <p:spPr>
          <a:xfrm>
            <a:off x="11201400" y="5372100"/>
            <a:ext cx="3048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78A5E74-AB4F-0702-A37E-CE62B5B4F778}"/>
              </a:ext>
            </a:extLst>
          </p:cNvPr>
          <p:cNvSpPr txBox="1"/>
          <p:nvPr/>
        </p:nvSpPr>
        <p:spPr>
          <a:xfrm>
            <a:off x="11743765" y="4610100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ε </a:t>
            </a:r>
            <a:r>
              <a:rPr lang="en-GB" sz="3600" b="0" dirty="0">
                <a:sym typeface="Wingdings" panose="05000000000000000000" pitchFamily="2" charset="2"/>
              </a:rPr>
              <a:t> T</a:t>
            </a:r>
            <a:endParaRPr lang="en-AE" sz="3600" b="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06B14CB-69F7-61A1-2D69-A9A760957365}"/>
              </a:ext>
            </a:extLst>
          </p:cNvPr>
          <p:cNvCxnSpPr>
            <a:cxnSpLocks/>
            <a:stCxn id="42" idx="3"/>
            <a:endCxn id="23" idx="7"/>
          </p:cNvCxnSpPr>
          <p:nvPr/>
        </p:nvCxnSpPr>
        <p:spPr>
          <a:xfrm flipH="1">
            <a:off x="8171889" y="5695389"/>
            <a:ext cx="6211422" cy="801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2D0CA65-EF0D-1737-CF56-D990CD7347EC}"/>
              </a:ext>
            </a:extLst>
          </p:cNvPr>
          <p:cNvSpPr txBox="1"/>
          <p:nvPr/>
        </p:nvSpPr>
        <p:spPr>
          <a:xfrm rot="21226033">
            <a:off x="9986565" y="5468658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ε </a:t>
            </a:r>
            <a:r>
              <a:rPr lang="en-GB" sz="3600" b="0" dirty="0">
                <a:sym typeface="Wingdings" panose="05000000000000000000" pitchFamily="2" charset="2"/>
              </a:rPr>
              <a:t> a</a:t>
            </a:r>
            <a:endParaRPr lang="en-AE" sz="3600" b="0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0B67D81-83B1-59E2-512F-807F0BFD81F2}"/>
              </a:ext>
            </a:extLst>
          </p:cNvPr>
          <p:cNvCxnSpPr>
            <a:cxnSpLocks/>
            <a:stCxn id="23" idx="3"/>
            <a:endCxn id="23" idx="4"/>
          </p:cNvCxnSpPr>
          <p:nvPr/>
        </p:nvCxnSpPr>
        <p:spPr>
          <a:xfrm rot="16200000" flipH="1">
            <a:off x="7620000" y="7048499"/>
            <a:ext cx="133911" cy="323289"/>
          </a:xfrm>
          <a:prstGeom prst="curvedConnector3">
            <a:avLst>
              <a:gd name="adj1" fmla="val 446927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5C8639B-27C2-BD62-C3E6-041232E07E4F}"/>
              </a:ext>
            </a:extLst>
          </p:cNvPr>
          <p:cNvSpPr txBox="1"/>
          <p:nvPr/>
        </p:nvSpPr>
        <p:spPr>
          <a:xfrm>
            <a:off x="6700837" y="7633473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S </a:t>
            </a:r>
            <a:r>
              <a:rPr lang="en-GB" sz="3600" b="0" dirty="0">
                <a:sym typeface="Wingdings" panose="05000000000000000000" pitchFamily="2" charset="2"/>
              </a:rPr>
              <a:t> b</a:t>
            </a:r>
            <a:endParaRPr lang="en-AE" sz="3600" b="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71BC497-7C55-778B-2A65-9E92132CD58E}"/>
              </a:ext>
            </a:extLst>
          </p:cNvPr>
          <p:cNvCxnSpPr>
            <a:cxnSpLocks/>
            <a:stCxn id="23" idx="6"/>
            <a:endCxn id="59" idx="2"/>
          </p:cNvCxnSpPr>
          <p:nvPr/>
        </p:nvCxnSpPr>
        <p:spPr>
          <a:xfrm flipV="1">
            <a:off x="8305800" y="6793299"/>
            <a:ext cx="6172200" cy="266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8761BB2-49CE-76FC-D7CA-5B99FD792CD4}"/>
              </a:ext>
            </a:extLst>
          </p:cNvPr>
          <p:cNvSpPr txBox="1"/>
          <p:nvPr/>
        </p:nvSpPr>
        <p:spPr>
          <a:xfrm>
            <a:off x="11353800" y="6107013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T </a:t>
            </a:r>
            <a:r>
              <a:rPr lang="en-GB" sz="3600" b="0" dirty="0">
                <a:sym typeface="Wingdings" panose="05000000000000000000" pitchFamily="2" charset="2"/>
              </a:rPr>
              <a:t> b</a:t>
            </a:r>
            <a:endParaRPr lang="en-AE" sz="3600" b="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F4E3A36-9249-11AD-D738-D2E5AB164A5A}"/>
              </a:ext>
            </a:extLst>
          </p:cNvPr>
          <p:cNvSpPr/>
          <p:nvPr/>
        </p:nvSpPr>
        <p:spPr>
          <a:xfrm>
            <a:off x="14478000" y="6336099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6</a:t>
            </a:r>
            <a:endParaRPr lang="en-AE" sz="2800" b="1" dirty="0">
              <a:solidFill>
                <a:schemeClr val="tx1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6205506-E2FC-2AC4-1FD6-6EA583FE7DAB}"/>
              </a:ext>
            </a:extLst>
          </p:cNvPr>
          <p:cNvCxnSpPr>
            <a:cxnSpLocks/>
            <a:stCxn id="59" idx="3"/>
            <a:endCxn id="23" idx="5"/>
          </p:cNvCxnSpPr>
          <p:nvPr/>
        </p:nvCxnSpPr>
        <p:spPr>
          <a:xfrm flipH="1">
            <a:off x="8171889" y="7116588"/>
            <a:ext cx="6440022" cy="266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C786289-8356-AF17-3E76-AFDD9B67D377}"/>
              </a:ext>
            </a:extLst>
          </p:cNvPr>
          <p:cNvSpPr txBox="1"/>
          <p:nvPr/>
        </p:nvSpPr>
        <p:spPr>
          <a:xfrm>
            <a:off x="11260418" y="6945213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ε </a:t>
            </a:r>
            <a:r>
              <a:rPr lang="en-GB" sz="3600" b="0" dirty="0">
                <a:sym typeface="Wingdings" panose="05000000000000000000" pitchFamily="2" charset="2"/>
              </a:rPr>
              <a:t> T</a:t>
            </a:r>
            <a:endParaRPr lang="en-AE" sz="3600" b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541DBFF-10BA-DAAC-3E94-FA34777A317F}"/>
              </a:ext>
            </a:extLst>
          </p:cNvPr>
          <p:cNvSpPr txBox="1"/>
          <p:nvPr/>
        </p:nvSpPr>
        <p:spPr>
          <a:xfrm>
            <a:off x="6705600" y="8240613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T </a:t>
            </a:r>
            <a:r>
              <a:rPr lang="en-GB" sz="3600" b="0" dirty="0">
                <a:sym typeface="Wingdings" panose="05000000000000000000" pitchFamily="2" charset="2"/>
              </a:rPr>
              <a:t> </a:t>
            </a:r>
            <a:r>
              <a:rPr lang="en-GB" sz="3600" b="0" dirty="0"/>
              <a:t>ε</a:t>
            </a:r>
            <a:endParaRPr lang="en-AE" sz="3600" b="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23E645-F8EF-6077-04CF-FC74207CB750}"/>
              </a:ext>
            </a:extLst>
          </p:cNvPr>
          <p:cNvSpPr txBox="1"/>
          <p:nvPr/>
        </p:nvSpPr>
        <p:spPr>
          <a:xfrm>
            <a:off x="6700836" y="8850213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a, a </a:t>
            </a:r>
            <a:r>
              <a:rPr lang="en-GB" sz="3600" b="0" dirty="0">
                <a:sym typeface="Wingdings" panose="05000000000000000000" pitchFamily="2" charset="2"/>
              </a:rPr>
              <a:t> </a:t>
            </a:r>
            <a:r>
              <a:rPr lang="en-GB" sz="3600" b="0" dirty="0"/>
              <a:t>ε</a:t>
            </a:r>
            <a:endParaRPr lang="en-AE" sz="3600" b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340C63-C115-0F1D-DD69-7259948A2338}"/>
              </a:ext>
            </a:extLst>
          </p:cNvPr>
          <p:cNvSpPr txBox="1"/>
          <p:nvPr/>
        </p:nvSpPr>
        <p:spPr>
          <a:xfrm>
            <a:off x="6696072" y="9479813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b, b </a:t>
            </a:r>
            <a:r>
              <a:rPr lang="en-GB" sz="3600" b="0" dirty="0">
                <a:sym typeface="Wingdings" panose="05000000000000000000" pitchFamily="2" charset="2"/>
              </a:rPr>
              <a:t> </a:t>
            </a:r>
            <a:r>
              <a:rPr lang="en-GB" sz="3600" b="0" dirty="0"/>
              <a:t>ε</a:t>
            </a:r>
            <a:endParaRPr lang="en-AE" sz="3600" b="0" dirty="0"/>
          </a:p>
        </p:txBody>
      </p:sp>
    </p:spTree>
    <p:extLst>
      <p:ext uri="{BB962C8B-B14F-4D97-AF65-F5344CB8AC3E}">
        <p14:creationId xmlns:p14="http://schemas.microsoft.com/office/powerpoint/2010/main" val="196092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1" grpId="0"/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31F67-7F30-2835-494A-EC5688EB8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0CB37A2-085E-F532-E33F-96663112FA40}"/>
              </a:ext>
            </a:extLst>
          </p:cNvPr>
          <p:cNvGrpSpPr/>
          <p:nvPr/>
        </p:nvGrpSpPr>
        <p:grpSpPr>
          <a:xfrm>
            <a:off x="-1945470" y="-2376191"/>
            <a:ext cx="5272633" cy="5272633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AC38614-2F11-2BEE-FCEC-BBBEF687947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6A6BAED-2890-3294-6C7B-9F68CA084E0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D144872-7EB0-D8C9-0CAE-84DAB355757C}"/>
              </a:ext>
            </a:extLst>
          </p:cNvPr>
          <p:cNvGrpSpPr/>
          <p:nvPr/>
        </p:nvGrpSpPr>
        <p:grpSpPr>
          <a:xfrm>
            <a:off x="14914620" y="7117545"/>
            <a:ext cx="5704840" cy="570484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81EC62F-9987-7D0C-FE2A-26B0162287D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5BE5F44-1C9A-16F1-FDC9-5B1B6ADB8C9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DACFC3D-8235-9F3A-3A2A-715CC3B0DD70}"/>
              </a:ext>
            </a:extLst>
          </p:cNvPr>
          <p:cNvGrpSpPr/>
          <p:nvPr/>
        </p:nvGrpSpPr>
        <p:grpSpPr>
          <a:xfrm>
            <a:off x="14323752" y="9567782"/>
            <a:ext cx="1839350" cy="183935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3F7590C-55BF-4BFF-1060-4A3613949AB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05E6548-8069-7406-4CE3-0B890FEC026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5D9BF80-DDE3-975A-4763-A23C12AE7376}"/>
              </a:ext>
            </a:extLst>
          </p:cNvPr>
          <p:cNvGrpSpPr/>
          <p:nvPr/>
        </p:nvGrpSpPr>
        <p:grpSpPr>
          <a:xfrm>
            <a:off x="-651846" y="2203119"/>
            <a:ext cx="1386647" cy="1386647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2192063-6A2F-A1E5-785D-9F3740990EB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00721511-E6C1-FD8B-6B34-952FF29ECB4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CE56A909-CDEA-3353-893D-20D91ED17705}"/>
              </a:ext>
            </a:extLst>
          </p:cNvPr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C614D77A-B8B4-5CC4-8315-3D2DCBF3C9CD}"/>
              </a:ext>
            </a:extLst>
          </p:cNvPr>
          <p:cNvSpPr/>
          <p:nvPr/>
        </p:nvSpPr>
        <p:spPr>
          <a:xfrm>
            <a:off x="-1107912" y="-1038882"/>
            <a:ext cx="2972604" cy="2972604"/>
          </a:xfrm>
          <a:custGeom>
            <a:avLst/>
            <a:gdLst/>
            <a:ahLst/>
            <a:cxnLst/>
            <a:rect l="l" t="t" r="r" b="b"/>
            <a:pathLst>
              <a:path w="2972604" h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4CA7AD33-6903-1BE0-C23A-D9B7E69B2B32}"/>
              </a:ext>
            </a:extLst>
          </p:cNvPr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193607DC-6658-E2C7-2725-D37823CB2C02}"/>
              </a:ext>
            </a:extLst>
          </p:cNvPr>
          <p:cNvSpPr/>
          <p:nvPr/>
        </p:nvSpPr>
        <p:spPr>
          <a:xfrm>
            <a:off x="16637449" y="8575609"/>
            <a:ext cx="3216273" cy="3216273"/>
          </a:xfrm>
          <a:custGeom>
            <a:avLst/>
            <a:gdLst/>
            <a:ahLst/>
            <a:cxnLst/>
            <a:rect l="l" t="t" r="r" b="b"/>
            <a:pathLst>
              <a:path w="3216273" h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A418AF47-E51C-E36F-82CC-127E7CD7ACA7}"/>
              </a:ext>
            </a:extLst>
          </p:cNvPr>
          <p:cNvSpPr/>
          <p:nvPr/>
        </p:nvSpPr>
        <p:spPr>
          <a:xfrm>
            <a:off x="16986566" y="7117545"/>
            <a:ext cx="1031856" cy="1031856"/>
          </a:xfrm>
          <a:custGeom>
            <a:avLst/>
            <a:gdLst/>
            <a:ahLst/>
            <a:cxnLst/>
            <a:rect l="l" t="t" r="r" b="b"/>
            <a:pathLst>
              <a:path w="1031856" h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39EEF9C1-231F-8A3C-1B8C-C3A5F9B4EF3A}"/>
              </a:ext>
            </a:extLst>
          </p:cNvPr>
          <p:cNvSpPr/>
          <p:nvPr/>
        </p:nvSpPr>
        <p:spPr>
          <a:xfrm>
            <a:off x="2284594" y="-1726493"/>
            <a:ext cx="2664744" cy="2664744"/>
          </a:xfrm>
          <a:custGeom>
            <a:avLst/>
            <a:gdLst/>
            <a:ahLst/>
            <a:cxnLst/>
            <a:rect l="l" t="t" r="r" b="b"/>
            <a:pathLst>
              <a:path w="2664744" h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FE3528AA-89C6-42CD-406E-D9B82F2FB899}"/>
              </a:ext>
            </a:extLst>
          </p:cNvPr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49FA035-4C18-38C1-14AB-94E98B3B7180}"/>
              </a:ext>
            </a:extLst>
          </p:cNvPr>
          <p:cNvSpPr txBox="1"/>
          <p:nvPr/>
        </p:nvSpPr>
        <p:spPr>
          <a:xfrm>
            <a:off x="5842716" y="2122828"/>
            <a:ext cx="6602569" cy="144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47"/>
              </a:lnSpc>
            </a:pPr>
            <a:r>
              <a:rPr lang="en-US" sz="8462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Example 3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0A14DC2-38BA-6729-65D3-52CB125A067B}"/>
              </a:ext>
            </a:extLst>
          </p:cNvPr>
          <p:cNvSpPr txBox="1"/>
          <p:nvPr/>
        </p:nvSpPr>
        <p:spPr>
          <a:xfrm>
            <a:off x="787799" y="3940400"/>
            <a:ext cx="2993589" cy="1333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3104" lvl="1" algn="l">
              <a:lnSpc>
                <a:spcPts val="5227"/>
              </a:lnSpc>
            </a:pP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S </a:t>
            </a: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 </a:t>
            </a:r>
            <a:r>
              <a:rPr lang="en-US" sz="3734" b="1" dirty="0" err="1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aTb</a:t>
            </a: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 | b</a:t>
            </a:r>
          </a:p>
          <a:p>
            <a:pPr marL="403104" lvl="1" algn="l">
              <a:lnSpc>
                <a:spcPts val="5227"/>
              </a:lnSpc>
            </a:pP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T  Tb | </a:t>
            </a:r>
            <a:r>
              <a:rPr lang="el-GR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ε</a:t>
            </a:r>
            <a:endParaRPr lang="en-US" sz="3734" b="1" dirty="0">
              <a:solidFill>
                <a:srgbClr val="5E376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sario"/>
              <a:sym typeface="Rosario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AF8C2AB1-AFA2-209D-B962-FF0EABA7C67E}"/>
              </a:ext>
            </a:extLst>
          </p:cNvPr>
          <p:cNvSpPr/>
          <p:nvPr/>
        </p:nvSpPr>
        <p:spPr>
          <a:xfrm>
            <a:off x="677958" y="136301"/>
            <a:ext cx="2608154" cy="2608154"/>
          </a:xfrm>
          <a:custGeom>
            <a:avLst/>
            <a:gdLst/>
            <a:ahLst/>
            <a:cxnLst/>
            <a:rect l="l" t="t" r="r" b="b"/>
            <a:pathLst>
              <a:path w="2608154" h="2608154">
                <a:moveTo>
                  <a:pt x="0" y="0"/>
                </a:moveTo>
                <a:lnTo>
                  <a:pt x="2608154" y="0"/>
                </a:lnTo>
                <a:lnTo>
                  <a:pt x="2608154" y="2608154"/>
                </a:lnTo>
                <a:lnTo>
                  <a:pt x="0" y="26081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8CB84B6-C92A-45BB-4A8D-03124874E332}"/>
              </a:ext>
            </a:extLst>
          </p:cNvPr>
          <p:cNvSpPr/>
          <p:nvPr/>
        </p:nvSpPr>
        <p:spPr>
          <a:xfrm>
            <a:off x="1938953" y="63627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1</a:t>
            </a:r>
            <a:endParaRPr lang="en-AE" sz="2800" b="1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754040C-DD7E-93F0-5C58-5A911BDE806E}"/>
              </a:ext>
            </a:extLst>
          </p:cNvPr>
          <p:cNvCxnSpPr>
            <a:cxnSpLocks/>
            <a:endCxn id="29" idx="2"/>
          </p:cNvCxnSpPr>
          <p:nvPr/>
        </p:nvCxnSpPr>
        <p:spPr>
          <a:xfrm>
            <a:off x="1325489" y="6819900"/>
            <a:ext cx="61346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A5E5405-284C-B1E2-20E6-C27B488571C5}"/>
              </a:ext>
            </a:extLst>
          </p:cNvPr>
          <p:cNvSpPr txBox="1"/>
          <p:nvPr/>
        </p:nvSpPr>
        <p:spPr>
          <a:xfrm>
            <a:off x="5704050" y="3583621"/>
            <a:ext cx="11282516" cy="1188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400" dirty="0">
                <a:solidFill>
                  <a:srgbClr val="5E376D"/>
                </a:solidFill>
                <a:highlight>
                  <a:srgbClr val="FFFF00"/>
                </a:highlight>
                <a:latin typeface="Rosario"/>
                <a:ea typeface="Rosario"/>
                <a:cs typeface="Rosario"/>
                <a:sym typeface="Rosario"/>
              </a:rPr>
              <a:t>Match $ to move to accept state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D8A6F46-B325-4AB8-C903-C06A7335D811}"/>
              </a:ext>
            </a:extLst>
          </p:cNvPr>
          <p:cNvSpPr/>
          <p:nvPr/>
        </p:nvSpPr>
        <p:spPr>
          <a:xfrm>
            <a:off x="4648200" y="63627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2</a:t>
            </a:r>
            <a:endParaRPr lang="en-AE" sz="2800" b="1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B9501DC-36EA-DAE5-778C-17DDB9AFEF7E}"/>
              </a:ext>
            </a:extLst>
          </p:cNvPr>
          <p:cNvCxnSpPr>
            <a:cxnSpLocks/>
            <a:stCxn id="29" idx="6"/>
            <a:endCxn id="33" idx="2"/>
          </p:cNvCxnSpPr>
          <p:nvPr/>
        </p:nvCxnSpPr>
        <p:spPr>
          <a:xfrm>
            <a:off x="2853353" y="6819900"/>
            <a:ext cx="179484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AAE46E2-8F61-E4C9-6E49-C10B5294FCDF}"/>
              </a:ext>
            </a:extLst>
          </p:cNvPr>
          <p:cNvSpPr txBox="1"/>
          <p:nvPr/>
        </p:nvSpPr>
        <p:spPr>
          <a:xfrm>
            <a:off x="2752165" y="6057900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ε </a:t>
            </a:r>
            <a:r>
              <a:rPr lang="en-GB" sz="3600" b="0" dirty="0">
                <a:sym typeface="Wingdings" panose="05000000000000000000" pitchFamily="2" charset="2"/>
              </a:rPr>
              <a:t> $</a:t>
            </a:r>
            <a:endParaRPr lang="en-AE" sz="3600" b="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2CBFA1C-EAE1-D46E-614E-5C3CBC72374C}"/>
              </a:ext>
            </a:extLst>
          </p:cNvPr>
          <p:cNvSpPr/>
          <p:nvPr/>
        </p:nvSpPr>
        <p:spPr>
          <a:xfrm>
            <a:off x="7391400" y="63627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3</a:t>
            </a:r>
            <a:endParaRPr lang="en-AE" sz="2800" b="1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F2D6BBD-28BE-AE51-A418-279F15B7FF6C}"/>
              </a:ext>
            </a:extLst>
          </p:cNvPr>
          <p:cNvCxnSpPr>
            <a:cxnSpLocks/>
            <a:stCxn id="33" idx="6"/>
            <a:endCxn id="23" idx="2"/>
          </p:cNvCxnSpPr>
          <p:nvPr/>
        </p:nvCxnSpPr>
        <p:spPr>
          <a:xfrm>
            <a:off x="5562600" y="6819900"/>
            <a:ext cx="1828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369A0EF-9A32-0C30-D26B-B4680E7AFEC2}"/>
              </a:ext>
            </a:extLst>
          </p:cNvPr>
          <p:cNvSpPr txBox="1"/>
          <p:nvPr/>
        </p:nvSpPr>
        <p:spPr>
          <a:xfrm>
            <a:off x="5410200" y="6057900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ε </a:t>
            </a:r>
            <a:r>
              <a:rPr lang="en-GB" sz="3600" b="0" dirty="0">
                <a:sym typeface="Wingdings" panose="05000000000000000000" pitchFamily="2" charset="2"/>
              </a:rPr>
              <a:t> S</a:t>
            </a:r>
            <a:endParaRPr lang="en-AE" sz="3600" b="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002568E-529B-FE6D-CD3A-9AB395F828F8}"/>
              </a:ext>
            </a:extLst>
          </p:cNvPr>
          <p:cNvCxnSpPr>
            <a:cxnSpLocks/>
            <a:stCxn id="23" idx="0"/>
            <a:endCxn id="39" idx="2"/>
          </p:cNvCxnSpPr>
          <p:nvPr/>
        </p:nvCxnSpPr>
        <p:spPr>
          <a:xfrm flipV="1">
            <a:off x="7848600" y="5372100"/>
            <a:ext cx="2438400" cy="9906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3057E8E-CE86-0CD0-B816-3563AA8AEF9A}"/>
              </a:ext>
            </a:extLst>
          </p:cNvPr>
          <p:cNvSpPr txBox="1"/>
          <p:nvPr/>
        </p:nvSpPr>
        <p:spPr>
          <a:xfrm rot="20274062">
            <a:off x="7764520" y="5132971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S </a:t>
            </a:r>
            <a:r>
              <a:rPr lang="en-GB" sz="3600" b="0" dirty="0">
                <a:sym typeface="Wingdings" panose="05000000000000000000" pitchFamily="2" charset="2"/>
              </a:rPr>
              <a:t> b</a:t>
            </a:r>
            <a:endParaRPr lang="en-AE" sz="3600" b="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5342A4E-4414-BAAD-234C-16BE7DC1C21F}"/>
              </a:ext>
            </a:extLst>
          </p:cNvPr>
          <p:cNvSpPr/>
          <p:nvPr/>
        </p:nvSpPr>
        <p:spPr>
          <a:xfrm>
            <a:off x="10287000" y="49149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4</a:t>
            </a:r>
            <a:endParaRPr lang="en-AE" sz="2800" b="1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5B7A346-B716-7062-49F2-8C615C86D7D9}"/>
              </a:ext>
            </a:extLst>
          </p:cNvPr>
          <p:cNvSpPr/>
          <p:nvPr/>
        </p:nvSpPr>
        <p:spPr>
          <a:xfrm>
            <a:off x="14249400" y="49149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5</a:t>
            </a:r>
            <a:endParaRPr lang="en-AE" sz="2800" b="1" dirty="0">
              <a:solidFill>
                <a:schemeClr val="tx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7BCE358-8A11-7E6E-61AA-AA93A46F7506}"/>
              </a:ext>
            </a:extLst>
          </p:cNvPr>
          <p:cNvCxnSpPr>
            <a:cxnSpLocks/>
            <a:stCxn id="39" idx="6"/>
            <a:endCxn id="42" idx="2"/>
          </p:cNvCxnSpPr>
          <p:nvPr/>
        </p:nvCxnSpPr>
        <p:spPr>
          <a:xfrm>
            <a:off x="11201400" y="5372100"/>
            <a:ext cx="3048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7D1AEEB-1684-6498-6E03-447A2E4784DC}"/>
              </a:ext>
            </a:extLst>
          </p:cNvPr>
          <p:cNvSpPr txBox="1"/>
          <p:nvPr/>
        </p:nvSpPr>
        <p:spPr>
          <a:xfrm>
            <a:off x="11743765" y="4610100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ε </a:t>
            </a:r>
            <a:r>
              <a:rPr lang="en-GB" sz="3600" b="0" dirty="0">
                <a:sym typeface="Wingdings" panose="05000000000000000000" pitchFamily="2" charset="2"/>
              </a:rPr>
              <a:t> T</a:t>
            </a:r>
            <a:endParaRPr lang="en-AE" sz="3600" b="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6EE2D10-AE93-A8E7-F926-2ECEB5B6B49D}"/>
              </a:ext>
            </a:extLst>
          </p:cNvPr>
          <p:cNvCxnSpPr>
            <a:cxnSpLocks/>
            <a:stCxn id="42" idx="3"/>
            <a:endCxn id="23" idx="7"/>
          </p:cNvCxnSpPr>
          <p:nvPr/>
        </p:nvCxnSpPr>
        <p:spPr>
          <a:xfrm flipH="1">
            <a:off x="8171889" y="5695389"/>
            <a:ext cx="6211422" cy="801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B789412-F3EC-F5FD-5EFE-4243231086DF}"/>
              </a:ext>
            </a:extLst>
          </p:cNvPr>
          <p:cNvSpPr txBox="1"/>
          <p:nvPr/>
        </p:nvSpPr>
        <p:spPr>
          <a:xfrm rot="21226033">
            <a:off x="9986565" y="5468658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ε </a:t>
            </a:r>
            <a:r>
              <a:rPr lang="en-GB" sz="3600" b="0" dirty="0">
                <a:sym typeface="Wingdings" panose="05000000000000000000" pitchFamily="2" charset="2"/>
              </a:rPr>
              <a:t> a</a:t>
            </a:r>
            <a:endParaRPr lang="en-AE" sz="3600" b="0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9438B07-44FE-3CB2-2915-9E65573EC95C}"/>
              </a:ext>
            </a:extLst>
          </p:cNvPr>
          <p:cNvCxnSpPr>
            <a:cxnSpLocks/>
            <a:stCxn id="23" idx="3"/>
            <a:endCxn id="23" idx="4"/>
          </p:cNvCxnSpPr>
          <p:nvPr/>
        </p:nvCxnSpPr>
        <p:spPr>
          <a:xfrm rot="16200000" flipH="1">
            <a:off x="7620000" y="7048499"/>
            <a:ext cx="133911" cy="323289"/>
          </a:xfrm>
          <a:prstGeom prst="curvedConnector3">
            <a:avLst>
              <a:gd name="adj1" fmla="val 446927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0CE84C3-44C1-CC91-4F7D-DE2BFD8C27AB}"/>
              </a:ext>
            </a:extLst>
          </p:cNvPr>
          <p:cNvSpPr txBox="1"/>
          <p:nvPr/>
        </p:nvSpPr>
        <p:spPr>
          <a:xfrm>
            <a:off x="6700837" y="7633473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S </a:t>
            </a:r>
            <a:r>
              <a:rPr lang="en-GB" sz="3600" b="0" dirty="0">
                <a:sym typeface="Wingdings" panose="05000000000000000000" pitchFamily="2" charset="2"/>
              </a:rPr>
              <a:t> b</a:t>
            </a:r>
            <a:endParaRPr lang="en-AE" sz="3600" b="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BDC7B51-98CA-F41C-C78C-615509DC2236}"/>
              </a:ext>
            </a:extLst>
          </p:cNvPr>
          <p:cNvCxnSpPr>
            <a:cxnSpLocks/>
            <a:stCxn id="23" idx="6"/>
            <a:endCxn id="59" idx="2"/>
          </p:cNvCxnSpPr>
          <p:nvPr/>
        </p:nvCxnSpPr>
        <p:spPr>
          <a:xfrm flipV="1">
            <a:off x="8305800" y="6793299"/>
            <a:ext cx="6172200" cy="266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20470E4-4C7C-2FAB-9F3A-2608B5C0A509}"/>
              </a:ext>
            </a:extLst>
          </p:cNvPr>
          <p:cNvSpPr txBox="1"/>
          <p:nvPr/>
        </p:nvSpPr>
        <p:spPr>
          <a:xfrm>
            <a:off x="11353800" y="6107013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T </a:t>
            </a:r>
            <a:r>
              <a:rPr lang="en-GB" sz="3600" b="0" dirty="0">
                <a:sym typeface="Wingdings" panose="05000000000000000000" pitchFamily="2" charset="2"/>
              </a:rPr>
              <a:t> b</a:t>
            </a:r>
            <a:endParaRPr lang="en-AE" sz="3600" b="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B2D01E4-6EBB-A281-A6F4-F802538ADE53}"/>
              </a:ext>
            </a:extLst>
          </p:cNvPr>
          <p:cNvSpPr/>
          <p:nvPr/>
        </p:nvSpPr>
        <p:spPr>
          <a:xfrm>
            <a:off x="14478000" y="6336099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6</a:t>
            </a:r>
            <a:endParaRPr lang="en-AE" sz="2800" b="1" dirty="0">
              <a:solidFill>
                <a:schemeClr val="tx1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B75C8A7-5D44-35BC-B3D2-E7766942C60F}"/>
              </a:ext>
            </a:extLst>
          </p:cNvPr>
          <p:cNvCxnSpPr>
            <a:cxnSpLocks/>
            <a:stCxn id="59" idx="3"/>
            <a:endCxn id="23" idx="5"/>
          </p:cNvCxnSpPr>
          <p:nvPr/>
        </p:nvCxnSpPr>
        <p:spPr>
          <a:xfrm flipH="1">
            <a:off x="8171889" y="7116588"/>
            <a:ext cx="6440022" cy="266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0F979A2-D082-780F-BFC0-22C2672CF0F4}"/>
              </a:ext>
            </a:extLst>
          </p:cNvPr>
          <p:cNvSpPr txBox="1"/>
          <p:nvPr/>
        </p:nvSpPr>
        <p:spPr>
          <a:xfrm>
            <a:off x="11260418" y="6945213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ε </a:t>
            </a:r>
            <a:r>
              <a:rPr lang="en-GB" sz="3600" b="0" dirty="0">
                <a:sym typeface="Wingdings" panose="05000000000000000000" pitchFamily="2" charset="2"/>
              </a:rPr>
              <a:t> T</a:t>
            </a:r>
            <a:endParaRPr lang="en-AE" sz="3600" b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B878536-0370-840A-A8BD-4B4B81FE5472}"/>
              </a:ext>
            </a:extLst>
          </p:cNvPr>
          <p:cNvSpPr txBox="1"/>
          <p:nvPr/>
        </p:nvSpPr>
        <p:spPr>
          <a:xfrm>
            <a:off x="6705600" y="8240613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T </a:t>
            </a:r>
            <a:r>
              <a:rPr lang="en-GB" sz="3600" b="0" dirty="0">
                <a:sym typeface="Wingdings" panose="05000000000000000000" pitchFamily="2" charset="2"/>
              </a:rPr>
              <a:t> </a:t>
            </a:r>
            <a:r>
              <a:rPr lang="en-GB" sz="3600" b="0" dirty="0"/>
              <a:t>ε</a:t>
            </a:r>
            <a:endParaRPr lang="en-AE" sz="3600" b="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5D841A-BD8A-BD68-47D0-4C61B0E7651F}"/>
              </a:ext>
            </a:extLst>
          </p:cNvPr>
          <p:cNvSpPr txBox="1"/>
          <p:nvPr/>
        </p:nvSpPr>
        <p:spPr>
          <a:xfrm>
            <a:off x="6700836" y="8850213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a, a </a:t>
            </a:r>
            <a:r>
              <a:rPr lang="en-GB" sz="3600" b="0" dirty="0">
                <a:sym typeface="Wingdings" panose="05000000000000000000" pitchFamily="2" charset="2"/>
              </a:rPr>
              <a:t> </a:t>
            </a:r>
            <a:r>
              <a:rPr lang="en-GB" sz="3600" b="0" dirty="0"/>
              <a:t>ε</a:t>
            </a:r>
            <a:endParaRPr lang="en-AE" sz="3600" b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403FD0-40A4-31F6-7572-76A3251A02CF}"/>
              </a:ext>
            </a:extLst>
          </p:cNvPr>
          <p:cNvSpPr txBox="1"/>
          <p:nvPr/>
        </p:nvSpPr>
        <p:spPr>
          <a:xfrm>
            <a:off x="6696072" y="9479813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b, b </a:t>
            </a:r>
            <a:r>
              <a:rPr lang="en-GB" sz="3600" b="0" dirty="0">
                <a:sym typeface="Wingdings" panose="05000000000000000000" pitchFamily="2" charset="2"/>
              </a:rPr>
              <a:t> </a:t>
            </a:r>
            <a:r>
              <a:rPr lang="en-GB" sz="3600" b="0" dirty="0"/>
              <a:t>ε</a:t>
            </a:r>
            <a:endParaRPr lang="en-AE" sz="3600" b="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9574751-B677-514C-8A64-A01B84D8EE4F}"/>
              </a:ext>
            </a:extLst>
          </p:cNvPr>
          <p:cNvGrpSpPr/>
          <p:nvPr/>
        </p:nvGrpSpPr>
        <p:grpSpPr>
          <a:xfrm>
            <a:off x="3139879" y="7334949"/>
            <a:ext cx="1196806" cy="1196806"/>
            <a:chOff x="2133600" y="7832894"/>
            <a:chExt cx="1196806" cy="1196806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F758BAA-4081-8CAD-7129-A77B6307FE13}"/>
                </a:ext>
              </a:extLst>
            </p:cNvPr>
            <p:cNvSpPr/>
            <p:nvPr/>
          </p:nvSpPr>
          <p:spPr>
            <a:xfrm>
              <a:off x="2133600" y="7832894"/>
              <a:ext cx="1196806" cy="119680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759D431-1DEB-7A31-84C4-C887AFD03113}"/>
                </a:ext>
              </a:extLst>
            </p:cNvPr>
            <p:cNvSpPr/>
            <p:nvPr/>
          </p:nvSpPr>
          <p:spPr>
            <a:xfrm>
              <a:off x="2284593" y="7989916"/>
              <a:ext cx="914400" cy="914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b="1" dirty="0">
                  <a:solidFill>
                    <a:schemeClr val="tx1"/>
                  </a:solidFill>
                </a:rPr>
                <a:t>7</a:t>
              </a:r>
              <a:endParaRPr lang="en-AE" sz="28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ACAFA85-7EDA-31AC-3788-FCEFE643DF0E}"/>
              </a:ext>
            </a:extLst>
          </p:cNvPr>
          <p:cNvCxnSpPr>
            <a:cxnSpLocks/>
            <a:endCxn id="49" idx="6"/>
          </p:cNvCxnSpPr>
          <p:nvPr/>
        </p:nvCxnSpPr>
        <p:spPr>
          <a:xfrm flipH="1">
            <a:off x="4336685" y="6945213"/>
            <a:ext cx="3054715" cy="9881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EF50735-E0AA-8079-DF30-DA80B8D78C7F}"/>
              </a:ext>
            </a:extLst>
          </p:cNvPr>
          <p:cNvSpPr txBox="1"/>
          <p:nvPr/>
        </p:nvSpPr>
        <p:spPr>
          <a:xfrm rot="20463397">
            <a:off x="4733365" y="7330191"/>
            <a:ext cx="1972235" cy="712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6347"/>
              </a:lnSpc>
              <a:defRPr sz="4534" b="1">
                <a:solidFill>
                  <a:srgbClr val="5E376D"/>
                </a:solidFill>
                <a:latin typeface="Rosario Bold"/>
                <a:ea typeface="Rosario Bold"/>
                <a:cs typeface="Rosario Bold"/>
              </a:defRPr>
            </a:lvl1pPr>
          </a:lstStyle>
          <a:p>
            <a:pPr algn="ctr"/>
            <a:r>
              <a:rPr lang="en-GB" sz="3600" b="0" dirty="0"/>
              <a:t>ε, $ </a:t>
            </a:r>
            <a:r>
              <a:rPr lang="en-GB" sz="3600" b="0" dirty="0">
                <a:sym typeface="Wingdings" panose="05000000000000000000" pitchFamily="2" charset="2"/>
              </a:rPr>
              <a:t> </a:t>
            </a:r>
            <a:r>
              <a:rPr lang="en-GB" sz="3600" b="0" dirty="0"/>
              <a:t>ε</a:t>
            </a:r>
            <a:endParaRPr lang="en-AE" sz="3600" b="0" dirty="0"/>
          </a:p>
        </p:txBody>
      </p:sp>
    </p:spTree>
    <p:extLst>
      <p:ext uri="{BB962C8B-B14F-4D97-AF65-F5344CB8AC3E}">
        <p14:creationId xmlns:p14="http://schemas.microsoft.com/office/powerpoint/2010/main" val="2251222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6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45470" y="-2376191"/>
            <a:ext cx="5272633" cy="527263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914620" y="7117545"/>
            <a:ext cx="5704840" cy="57048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323752" y="9567782"/>
            <a:ext cx="1839350" cy="183935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51846" y="2203119"/>
            <a:ext cx="1386647" cy="138664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Freeform 15"/>
          <p:cNvSpPr/>
          <p:nvPr/>
        </p:nvSpPr>
        <p:spPr>
          <a:xfrm>
            <a:off x="-1107912" y="-1038882"/>
            <a:ext cx="2972604" cy="2972604"/>
          </a:xfrm>
          <a:custGeom>
            <a:avLst/>
            <a:gdLst/>
            <a:ahLst/>
            <a:cxnLst/>
            <a:rect l="l" t="t" r="r" b="b"/>
            <a:pathLst>
              <a:path w="2972604" h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6" name="Freeform 16"/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7" name="Freeform 17"/>
          <p:cNvSpPr/>
          <p:nvPr/>
        </p:nvSpPr>
        <p:spPr>
          <a:xfrm>
            <a:off x="16637449" y="8575609"/>
            <a:ext cx="3216273" cy="3216273"/>
          </a:xfrm>
          <a:custGeom>
            <a:avLst/>
            <a:gdLst/>
            <a:ahLst/>
            <a:cxnLst/>
            <a:rect l="l" t="t" r="r" b="b"/>
            <a:pathLst>
              <a:path w="3216273" h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/>
          <p:cNvSpPr/>
          <p:nvPr/>
        </p:nvSpPr>
        <p:spPr>
          <a:xfrm>
            <a:off x="16986566" y="7117545"/>
            <a:ext cx="1031856" cy="1031856"/>
          </a:xfrm>
          <a:custGeom>
            <a:avLst/>
            <a:gdLst/>
            <a:ahLst/>
            <a:cxnLst/>
            <a:rect l="l" t="t" r="r" b="b"/>
            <a:pathLst>
              <a:path w="1031856" h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Freeform 19"/>
          <p:cNvSpPr/>
          <p:nvPr/>
        </p:nvSpPr>
        <p:spPr>
          <a:xfrm>
            <a:off x="2284594" y="-1726493"/>
            <a:ext cx="2664744" cy="2664744"/>
          </a:xfrm>
          <a:custGeom>
            <a:avLst/>
            <a:gdLst/>
            <a:ahLst/>
            <a:cxnLst/>
            <a:rect l="l" t="t" r="r" b="b"/>
            <a:pathLst>
              <a:path w="2664744" h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0" name="Freeform 20"/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1" name="TextBox 21"/>
          <p:cNvSpPr txBox="1"/>
          <p:nvPr/>
        </p:nvSpPr>
        <p:spPr>
          <a:xfrm>
            <a:off x="4931568" y="2523465"/>
            <a:ext cx="8424863" cy="1387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47"/>
              </a:lnSpc>
            </a:pPr>
            <a:r>
              <a:rPr lang="en-US" sz="8462" b="1" dirty="0">
                <a:solidFill>
                  <a:srgbClr val="462054"/>
                </a:solidFill>
                <a:latin typeface="Rosario Bold"/>
                <a:ea typeface="Rosario Bold"/>
                <a:cs typeface="Rosario Bold"/>
                <a:sym typeface="Rosario Bold"/>
              </a:rPr>
              <a:t>Task (in Lab 1)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38400" y="4307852"/>
            <a:ext cx="7864440" cy="2612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27"/>
              </a:lnSpc>
            </a:pPr>
            <a:r>
              <a:rPr lang="en-US" sz="3734" dirty="0">
                <a:solidFill>
                  <a:srgbClr val="462054"/>
                </a:solidFill>
                <a:latin typeface="Rosario"/>
                <a:ea typeface="Rosario"/>
                <a:cs typeface="Rosario"/>
                <a:sym typeface="Rosario"/>
              </a:rPr>
              <a:t>Construct PDA for the below grammar:</a:t>
            </a:r>
          </a:p>
          <a:p>
            <a:pPr>
              <a:lnSpc>
                <a:spcPts val="5227"/>
              </a:lnSpc>
            </a:pPr>
            <a:r>
              <a:rPr lang="en-US" sz="3734" b="1" dirty="0">
                <a:solidFill>
                  <a:srgbClr val="462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S </a:t>
            </a:r>
            <a:r>
              <a:rPr lang="en-US" sz="3734" b="1" dirty="0">
                <a:solidFill>
                  <a:srgbClr val="462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</a:t>
            </a:r>
            <a:r>
              <a:rPr lang="en-US" sz="3734" b="1" dirty="0">
                <a:solidFill>
                  <a:srgbClr val="462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 AB</a:t>
            </a:r>
          </a:p>
          <a:p>
            <a:pPr>
              <a:lnSpc>
                <a:spcPts val="5227"/>
              </a:lnSpc>
            </a:pPr>
            <a:r>
              <a:rPr lang="en-US" sz="3734" b="1" dirty="0">
                <a:solidFill>
                  <a:srgbClr val="462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A </a:t>
            </a:r>
            <a:r>
              <a:rPr lang="en-US" sz="3734" b="1" dirty="0">
                <a:solidFill>
                  <a:srgbClr val="462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</a:t>
            </a:r>
            <a:r>
              <a:rPr lang="en-US" sz="3734" b="1" dirty="0">
                <a:solidFill>
                  <a:srgbClr val="462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3734" b="1" dirty="0" err="1">
                <a:solidFill>
                  <a:srgbClr val="462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aAb</a:t>
            </a:r>
            <a:r>
              <a:rPr lang="en-US" sz="3734" b="1" dirty="0">
                <a:solidFill>
                  <a:srgbClr val="462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 | </a:t>
            </a:r>
            <a:r>
              <a:rPr lang="el-GR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ε</a:t>
            </a:r>
            <a:endParaRPr lang="en-US" sz="3734" b="1" dirty="0">
              <a:solidFill>
                <a:srgbClr val="46205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sario"/>
              <a:ea typeface="Rosario"/>
              <a:cs typeface="Rosario"/>
              <a:sym typeface="Rosario"/>
            </a:endParaRPr>
          </a:p>
          <a:p>
            <a:pPr>
              <a:lnSpc>
                <a:spcPts val="5227"/>
              </a:lnSpc>
            </a:pPr>
            <a:r>
              <a:rPr lang="en-US" sz="3734" b="1" dirty="0">
                <a:solidFill>
                  <a:srgbClr val="462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B </a:t>
            </a:r>
            <a:r>
              <a:rPr lang="en-US" sz="3734" b="1" dirty="0">
                <a:solidFill>
                  <a:srgbClr val="462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</a:t>
            </a:r>
            <a:r>
              <a:rPr lang="en-US" sz="3734" b="1" dirty="0">
                <a:solidFill>
                  <a:srgbClr val="462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3734" b="1" dirty="0" err="1">
                <a:solidFill>
                  <a:srgbClr val="462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cB</a:t>
            </a:r>
            <a:r>
              <a:rPr lang="en-US" sz="3734" b="1" dirty="0">
                <a:solidFill>
                  <a:srgbClr val="4620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 | </a:t>
            </a:r>
            <a:r>
              <a:rPr lang="el-GR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ε</a:t>
            </a:r>
            <a:endParaRPr lang="en-US" sz="3734" b="1" dirty="0">
              <a:solidFill>
                <a:srgbClr val="46205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sario"/>
              <a:ea typeface="Rosario"/>
              <a:cs typeface="Rosario"/>
              <a:sym typeface="Rosario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677958" y="136301"/>
            <a:ext cx="2608154" cy="2608154"/>
          </a:xfrm>
          <a:custGeom>
            <a:avLst/>
            <a:gdLst/>
            <a:ahLst/>
            <a:cxnLst/>
            <a:rect l="l" t="t" r="r" b="b"/>
            <a:pathLst>
              <a:path w="2608154" h="2608154">
                <a:moveTo>
                  <a:pt x="0" y="0"/>
                </a:moveTo>
                <a:lnTo>
                  <a:pt x="2608154" y="0"/>
                </a:lnTo>
                <a:lnTo>
                  <a:pt x="2608154" y="2608154"/>
                </a:lnTo>
                <a:lnTo>
                  <a:pt x="0" y="26081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4" name="TextBox 22">
            <a:extLst>
              <a:ext uri="{FF2B5EF4-FFF2-40B4-BE49-F238E27FC236}">
                <a16:creationId xmlns:a16="http://schemas.microsoft.com/office/drawing/2014/main" id="{DB5B9E7E-4018-4B15-DC82-3C2E3E58B7D4}"/>
              </a:ext>
            </a:extLst>
          </p:cNvPr>
          <p:cNvSpPr txBox="1"/>
          <p:nvPr/>
        </p:nvSpPr>
        <p:spPr>
          <a:xfrm>
            <a:off x="12268200" y="4393443"/>
            <a:ext cx="3482405" cy="1969257"/>
          </a:xfrm>
          <a:prstGeom prst="rect">
            <a:avLst/>
          </a:prstGeom>
          <a:ln w="28575"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27"/>
              </a:lnSpc>
            </a:pPr>
            <a:r>
              <a:rPr lang="en-GB" sz="3734" kern="1200" dirty="0">
                <a:solidFill>
                  <a:srgbClr val="5E376D"/>
                </a:solidFill>
                <a:latin typeface="Rosario"/>
                <a:sym typeface="Rosario"/>
              </a:rPr>
              <a:t>Test on the PDA</a:t>
            </a:r>
          </a:p>
          <a:p>
            <a:pPr algn="l">
              <a:lnSpc>
                <a:spcPts val="5227"/>
              </a:lnSpc>
            </a:pPr>
            <a:r>
              <a:rPr lang="en-GB" sz="3734" b="1" dirty="0" err="1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sym typeface="Rosario"/>
              </a:rPr>
              <a:t>aabbc</a:t>
            </a:r>
            <a:endParaRPr lang="en-GB" sz="3734" b="1" dirty="0">
              <a:solidFill>
                <a:srgbClr val="5E376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sario"/>
              <a:sym typeface="Rosario"/>
            </a:endParaRPr>
          </a:p>
          <a:p>
            <a:pPr algn="l">
              <a:lnSpc>
                <a:spcPts val="5227"/>
              </a:lnSpc>
            </a:pPr>
            <a:r>
              <a:rPr lang="en-GB" sz="3734" b="1" kern="1200" dirty="0" err="1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sym typeface="Rosario"/>
              </a:rPr>
              <a:t>abab</a:t>
            </a:r>
            <a:endParaRPr lang="en-GB" sz="4000" b="1" kern="1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6428686-BF7D-99A9-AEDA-E4F3B92D7D40}"/>
              </a:ext>
            </a:extLst>
          </p:cNvPr>
          <p:cNvSpPr/>
          <p:nvPr/>
        </p:nvSpPr>
        <p:spPr>
          <a:xfrm>
            <a:off x="734801" y="8697758"/>
            <a:ext cx="13761390" cy="941542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Solve on paper, write your name and ID</a:t>
            </a:r>
            <a:endParaRPr lang="en-AE" sz="36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45470" y="-2376191"/>
            <a:ext cx="5272633" cy="527263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914620" y="7117545"/>
            <a:ext cx="5704840" cy="57048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323752" y="9567782"/>
            <a:ext cx="1839350" cy="183935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51846" y="2203119"/>
            <a:ext cx="1386647" cy="138664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Freeform 15"/>
          <p:cNvSpPr/>
          <p:nvPr/>
        </p:nvSpPr>
        <p:spPr>
          <a:xfrm>
            <a:off x="-1107912" y="-1038882"/>
            <a:ext cx="2972604" cy="2972604"/>
          </a:xfrm>
          <a:custGeom>
            <a:avLst/>
            <a:gdLst/>
            <a:ahLst/>
            <a:cxnLst/>
            <a:rect l="l" t="t" r="r" b="b"/>
            <a:pathLst>
              <a:path w="2972604" h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6" name="Freeform 16"/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7" name="Freeform 17"/>
          <p:cNvSpPr/>
          <p:nvPr/>
        </p:nvSpPr>
        <p:spPr>
          <a:xfrm>
            <a:off x="16637449" y="8575609"/>
            <a:ext cx="3216273" cy="3216273"/>
          </a:xfrm>
          <a:custGeom>
            <a:avLst/>
            <a:gdLst/>
            <a:ahLst/>
            <a:cxnLst/>
            <a:rect l="l" t="t" r="r" b="b"/>
            <a:pathLst>
              <a:path w="3216273" h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/>
          <p:cNvSpPr/>
          <p:nvPr/>
        </p:nvSpPr>
        <p:spPr>
          <a:xfrm>
            <a:off x="16986566" y="7117545"/>
            <a:ext cx="1031856" cy="1031856"/>
          </a:xfrm>
          <a:custGeom>
            <a:avLst/>
            <a:gdLst/>
            <a:ahLst/>
            <a:cxnLst/>
            <a:rect l="l" t="t" r="r" b="b"/>
            <a:pathLst>
              <a:path w="1031856" h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Freeform 19"/>
          <p:cNvSpPr/>
          <p:nvPr/>
        </p:nvSpPr>
        <p:spPr>
          <a:xfrm>
            <a:off x="2284594" y="-1726493"/>
            <a:ext cx="2664744" cy="2664744"/>
          </a:xfrm>
          <a:custGeom>
            <a:avLst/>
            <a:gdLst/>
            <a:ahLst/>
            <a:cxnLst/>
            <a:rect l="l" t="t" r="r" b="b"/>
            <a:pathLst>
              <a:path w="2664744" h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0" name="Freeform 20"/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1" name="TextBox 21"/>
          <p:cNvSpPr txBox="1"/>
          <p:nvPr/>
        </p:nvSpPr>
        <p:spPr>
          <a:xfrm>
            <a:off x="3082009" y="2568402"/>
            <a:ext cx="6602569" cy="144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47"/>
              </a:lnSpc>
            </a:pPr>
            <a:r>
              <a:rPr lang="en-US" sz="8462" b="1" dirty="0">
                <a:solidFill>
                  <a:srgbClr val="5E376D"/>
                </a:solidFill>
                <a:latin typeface="Rosario Bold"/>
                <a:ea typeface="Rosario Bold"/>
                <a:cs typeface="Rosario Bold"/>
                <a:sym typeface="Rosario Bold"/>
              </a:rPr>
              <a:t>Task (in Lab 2)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82009" y="4289197"/>
            <a:ext cx="7966991" cy="2632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27"/>
              </a:lnSpc>
            </a:pPr>
            <a:r>
              <a:rPr lang="en-US" sz="3734" dirty="0">
                <a:solidFill>
                  <a:srgbClr val="5E376D"/>
                </a:solidFill>
                <a:latin typeface="Rosario"/>
                <a:ea typeface="Rosario"/>
                <a:cs typeface="Rosario"/>
                <a:sym typeface="Rosario"/>
              </a:rPr>
              <a:t>Construct PDA for the below grammar:</a:t>
            </a:r>
          </a:p>
          <a:p>
            <a:pPr algn="l">
              <a:lnSpc>
                <a:spcPts val="5227"/>
              </a:lnSpc>
            </a:pP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S </a:t>
            </a: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</a:t>
            </a: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 AB</a:t>
            </a:r>
          </a:p>
          <a:p>
            <a:pPr algn="l">
              <a:lnSpc>
                <a:spcPts val="5227"/>
              </a:lnSpc>
            </a:pP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A </a:t>
            </a: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Wingdings" panose="05000000000000000000" pitchFamily="2" charset="2"/>
              </a:rPr>
              <a:t></a:t>
            </a: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3734" b="1" dirty="0" err="1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aA</a:t>
            </a:r>
            <a:r>
              <a:rPr lang="en-US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 | </a:t>
            </a:r>
            <a:r>
              <a:rPr lang="el-GR" sz="3734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ε</a:t>
            </a:r>
            <a:endParaRPr lang="en-GB" sz="3734" b="1" dirty="0">
              <a:solidFill>
                <a:srgbClr val="5E376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sario"/>
              <a:ea typeface="Rosario"/>
              <a:cs typeface="Rosario"/>
              <a:sym typeface="Rosario"/>
            </a:endParaRPr>
          </a:p>
          <a:p>
            <a:pPr algn="l">
              <a:lnSpc>
                <a:spcPts val="5227"/>
              </a:lnSpc>
            </a:pPr>
            <a:r>
              <a:rPr lang="en-GB" sz="3734" b="1" kern="1200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sym typeface="Rosario"/>
              </a:rPr>
              <a:t>B </a:t>
            </a:r>
            <a:r>
              <a:rPr lang="en-GB" sz="3734" b="1" kern="1200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sym typeface="Wingdings" panose="05000000000000000000" pitchFamily="2" charset="2"/>
              </a:rPr>
              <a:t></a:t>
            </a:r>
            <a:r>
              <a:rPr lang="en-GB" sz="3734" b="1" kern="1200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sym typeface="Rosario"/>
              </a:rPr>
              <a:t> </a:t>
            </a:r>
            <a:r>
              <a:rPr lang="en-GB" sz="3734" b="1" kern="1200" dirty="0" err="1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sym typeface="Rosario"/>
              </a:rPr>
              <a:t>bB</a:t>
            </a:r>
            <a:r>
              <a:rPr lang="en-GB" sz="3734" b="1" kern="1200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sym typeface="Rosario"/>
              </a:rPr>
              <a:t> | </a:t>
            </a:r>
            <a:r>
              <a:rPr lang="el-GR" sz="4000" b="1" dirty="0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ea typeface="Rosario"/>
                <a:cs typeface="Rosario"/>
                <a:sym typeface="Rosario"/>
              </a:rPr>
              <a:t>ε</a:t>
            </a:r>
            <a:endParaRPr lang="en-GB" sz="4000" b="1" kern="1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677958" y="136301"/>
            <a:ext cx="2608154" cy="2608154"/>
          </a:xfrm>
          <a:custGeom>
            <a:avLst/>
            <a:gdLst/>
            <a:ahLst/>
            <a:cxnLst/>
            <a:rect l="l" t="t" r="r" b="b"/>
            <a:pathLst>
              <a:path w="2608154" h="2608154">
                <a:moveTo>
                  <a:pt x="0" y="0"/>
                </a:moveTo>
                <a:lnTo>
                  <a:pt x="2608154" y="0"/>
                </a:lnTo>
                <a:lnTo>
                  <a:pt x="2608154" y="2608154"/>
                </a:lnTo>
                <a:lnTo>
                  <a:pt x="0" y="26081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D97A1E18-277C-54A6-E844-BB4AAA279448}"/>
              </a:ext>
            </a:extLst>
          </p:cNvPr>
          <p:cNvSpPr txBox="1"/>
          <p:nvPr/>
        </p:nvSpPr>
        <p:spPr>
          <a:xfrm>
            <a:off x="12268200" y="4393443"/>
            <a:ext cx="3482405" cy="1969257"/>
          </a:xfrm>
          <a:prstGeom prst="rect">
            <a:avLst/>
          </a:prstGeom>
          <a:ln w="28575"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27"/>
              </a:lnSpc>
            </a:pPr>
            <a:r>
              <a:rPr lang="en-GB" sz="3734" kern="1200" dirty="0">
                <a:solidFill>
                  <a:srgbClr val="5E376D"/>
                </a:solidFill>
                <a:latin typeface="Rosario"/>
                <a:sym typeface="Rosario"/>
              </a:rPr>
              <a:t>Test on the PDA</a:t>
            </a:r>
          </a:p>
          <a:p>
            <a:pPr algn="l">
              <a:lnSpc>
                <a:spcPts val="5227"/>
              </a:lnSpc>
            </a:pPr>
            <a:r>
              <a:rPr lang="en-GB" sz="3734" b="1" dirty="0" err="1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sym typeface="Rosario"/>
              </a:rPr>
              <a:t>aabb</a:t>
            </a:r>
            <a:endParaRPr lang="en-GB" sz="3734" b="1" dirty="0">
              <a:solidFill>
                <a:srgbClr val="5E376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sario"/>
              <a:sym typeface="Rosario"/>
            </a:endParaRPr>
          </a:p>
          <a:p>
            <a:pPr algn="l">
              <a:lnSpc>
                <a:spcPts val="5227"/>
              </a:lnSpc>
            </a:pPr>
            <a:r>
              <a:rPr lang="en-GB" sz="3734" b="1" kern="1200" dirty="0" err="1">
                <a:solidFill>
                  <a:srgbClr val="5E376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ario"/>
                <a:sym typeface="Rosario"/>
              </a:rPr>
              <a:t>abab</a:t>
            </a:r>
            <a:endParaRPr lang="en-GB" sz="4000" b="1" kern="1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CDDCE24-DB14-E98A-AD0E-E55A80B3992E}"/>
              </a:ext>
            </a:extLst>
          </p:cNvPr>
          <p:cNvSpPr/>
          <p:nvPr/>
        </p:nvSpPr>
        <p:spPr>
          <a:xfrm>
            <a:off x="734801" y="8697758"/>
            <a:ext cx="13761390" cy="941542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Solve on paper, write your name and ID</a:t>
            </a:r>
            <a:endParaRPr lang="en-AE" sz="36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45470" y="-2376191"/>
            <a:ext cx="5272633" cy="527263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914620" y="7117545"/>
            <a:ext cx="5704840" cy="57048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323752" y="9567782"/>
            <a:ext cx="1839350" cy="183935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BD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51846" y="2203119"/>
            <a:ext cx="1386647" cy="138664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376D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Freeform 15"/>
          <p:cNvSpPr/>
          <p:nvPr/>
        </p:nvSpPr>
        <p:spPr>
          <a:xfrm>
            <a:off x="-1107912" y="-1038882"/>
            <a:ext cx="2972604" cy="2972604"/>
          </a:xfrm>
          <a:custGeom>
            <a:avLst/>
            <a:gdLst/>
            <a:ahLst/>
            <a:cxnLst/>
            <a:rect l="l" t="t" r="r" b="b"/>
            <a:pathLst>
              <a:path w="2972604" h="2972604">
                <a:moveTo>
                  <a:pt x="0" y="0"/>
                </a:moveTo>
                <a:lnTo>
                  <a:pt x="2972604" y="0"/>
                </a:lnTo>
                <a:lnTo>
                  <a:pt x="2972604" y="2972604"/>
                </a:lnTo>
                <a:lnTo>
                  <a:pt x="0" y="2972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6" name="Freeform 16"/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7" name="Freeform 17"/>
          <p:cNvSpPr/>
          <p:nvPr/>
        </p:nvSpPr>
        <p:spPr>
          <a:xfrm>
            <a:off x="16637449" y="8575609"/>
            <a:ext cx="3216273" cy="3216273"/>
          </a:xfrm>
          <a:custGeom>
            <a:avLst/>
            <a:gdLst/>
            <a:ahLst/>
            <a:cxnLst/>
            <a:rect l="l" t="t" r="r" b="b"/>
            <a:pathLst>
              <a:path w="3216273" h="3216273">
                <a:moveTo>
                  <a:pt x="0" y="0"/>
                </a:moveTo>
                <a:lnTo>
                  <a:pt x="3216273" y="0"/>
                </a:lnTo>
                <a:lnTo>
                  <a:pt x="3216273" y="3216273"/>
                </a:lnTo>
                <a:lnTo>
                  <a:pt x="0" y="3216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8" name="Freeform 18"/>
          <p:cNvSpPr/>
          <p:nvPr/>
        </p:nvSpPr>
        <p:spPr>
          <a:xfrm>
            <a:off x="16986566" y="7117545"/>
            <a:ext cx="1031856" cy="1031856"/>
          </a:xfrm>
          <a:custGeom>
            <a:avLst/>
            <a:gdLst/>
            <a:ahLst/>
            <a:cxnLst/>
            <a:rect l="l" t="t" r="r" b="b"/>
            <a:pathLst>
              <a:path w="1031856" h="1031856">
                <a:moveTo>
                  <a:pt x="0" y="0"/>
                </a:moveTo>
                <a:lnTo>
                  <a:pt x="1031856" y="0"/>
                </a:lnTo>
                <a:lnTo>
                  <a:pt x="1031856" y="1031855"/>
                </a:lnTo>
                <a:lnTo>
                  <a:pt x="0" y="10318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9" name="Freeform 19"/>
          <p:cNvSpPr/>
          <p:nvPr/>
        </p:nvSpPr>
        <p:spPr>
          <a:xfrm>
            <a:off x="2284594" y="-1726493"/>
            <a:ext cx="2664744" cy="2664744"/>
          </a:xfrm>
          <a:custGeom>
            <a:avLst/>
            <a:gdLst/>
            <a:ahLst/>
            <a:cxnLst/>
            <a:rect l="l" t="t" r="r" b="b"/>
            <a:pathLst>
              <a:path w="2664744" h="2664744">
                <a:moveTo>
                  <a:pt x="0" y="0"/>
                </a:moveTo>
                <a:lnTo>
                  <a:pt x="2664745" y="0"/>
                </a:lnTo>
                <a:lnTo>
                  <a:pt x="2664745" y="2664745"/>
                </a:lnTo>
                <a:lnTo>
                  <a:pt x="0" y="2664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0" name="Freeform 20"/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1" name="TextBox 21"/>
          <p:cNvSpPr txBox="1"/>
          <p:nvPr/>
        </p:nvSpPr>
        <p:spPr>
          <a:xfrm>
            <a:off x="4013827" y="3189756"/>
            <a:ext cx="10260346" cy="424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47"/>
              </a:lnSpc>
            </a:pPr>
            <a:r>
              <a:rPr lang="en-US" sz="16512" b="1">
                <a:solidFill>
                  <a:srgbClr val="462054"/>
                </a:solidFill>
                <a:latin typeface="Rosario Bold"/>
                <a:ea typeface="Rosario Bold"/>
                <a:cs typeface="Rosario Bold"/>
                <a:sym typeface="Rosario Bold"/>
              </a:rPr>
              <a:t>THANK</a:t>
            </a:r>
          </a:p>
          <a:p>
            <a:pPr algn="ctr">
              <a:lnSpc>
                <a:spcPts val="16347"/>
              </a:lnSpc>
            </a:pPr>
            <a:r>
              <a:rPr lang="en-US" sz="16512" b="1">
                <a:solidFill>
                  <a:srgbClr val="462054"/>
                </a:solidFill>
                <a:latin typeface="Rosario Bold"/>
                <a:ea typeface="Rosario Bold"/>
                <a:cs typeface="Rosario Bold"/>
                <a:sym typeface="Rosario Bold"/>
              </a:rPr>
              <a:t>YOU</a:t>
            </a:r>
          </a:p>
        </p:txBody>
      </p:sp>
      <p:sp>
        <p:nvSpPr>
          <p:cNvPr id="22" name="Freeform 22"/>
          <p:cNvSpPr/>
          <p:nvPr/>
        </p:nvSpPr>
        <p:spPr>
          <a:xfrm>
            <a:off x="677958" y="136301"/>
            <a:ext cx="2608154" cy="2608154"/>
          </a:xfrm>
          <a:custGeom>
            <a:avLst/>
            <a:gdLst/>
            <a:ahLst/>
            <a:cxnLst/>
            <a:rect l="l" t="t" r="r" b="b"/>
            <a:pathLst>
              <a:path w="2608154" h="2608154">
                <a:moveTo>
                  <a:pt x="0" y="0"/>
                </a:moveTo>
                <a:lnTo>
                  <a:pt x="2608154" y="0"/>
                </a:lnTo>
                <a:lnTo>
                  <a:pt x="2608154" y="2608154"/>
                </a:lnTo>
                <a:lnTo>
                  <a:pt x="0" y="26081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555</Words>
  <Application>Microsoft Office PowerPoint</Application>
  <PresentationFormat>Custom</PresentationFormat>
  <Paragraphs>134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Cooper BT Light</vt:lpstr>
      <vt:lpstr>Rosario Bold</vt:lpstr>
      <vt:lpstr>Rosario</vt:lpstr>
      <vt:lpstr>Arial</vt:lpstr>
      <vt:lpstr>Rosario Italics</vt:lpstr>
      <vt:lpstr>Wingdings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Abstract Presentation</dc:title>
  <cp:lastModifiedBy>mayar tarek henedak</cp:lastModifiedBy>
  <cp:revision>3</cp:revision>
  <dcterms:created xsi:type="dcterms:W3CDTF">2006-08-16T00:00:00Z</dcterms:created>
  <dcterms:modified xsi:type="dcterms:W3CDTF">2026-04-29T16:32:48Z</dcterms:modified>
  <dc:identifier>DAGR2d7bZwc</dc:identifier>
</cp:coreProperties>
</file>